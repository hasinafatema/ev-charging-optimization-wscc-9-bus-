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256" r:id="rId2"/>
    <p:sldId id="257" r:id="rId3"/>
    <p:sldId id="261" r:id="rId4"/>
    <p:sldId id="281" r:id="rId5"/>
    <p:sldId id="260" r:id="rId6"/>
    <p:sldId id="265" r:id="rId7"/>
    <p:sldId id="259" r:id="rId8"/>
    <p:sldId id="282" r:id="rId9"/>
    <p:sldId id="268" r:id="rId10"/>
    <p:sldId id="283" r:id="rId11"/>
    <p:sldId id="287" r:id="rId12"/>
    <p:sldId id="284" r:id="rId13"/>
    <p:sldId id="270" r:id="rId14"/>
    <p:sldId id="285" r:id="rId15"/>
    <p:sldId id="286" r:id="rId16"/>
    <p:sldId id="279" r:id="rId17"/>
    <p:sldId id="28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29" y="60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1032D2-4EE9-44F7-9FB6-79B6550114A1}" type="datetimeFigureOut">
              <a:rPr lang="en-IN" smtClean="0"/>
              <a:t>01-05-2026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4A1612-9EC7-4DFC-B8C4-9338768EBBB3}" type="slidenum">
              <a:rPr lang="en-IN" smtClean="0"/>
              <a:t>‹#›</a:t>
            </a:fld>
            <a:endParaRPr lang="en-IN"/>
          </a:p>
        </p:txBody>
      </p:sp>
    </p:spTree>
    <p:extLst>
      <p:ext uri="{BB962C8B-B14F-4D97-AF65-F5344CB8AC3E}">
        <p14:creationId xmlns:p14="http://schemas.microsoft.com/office/powerpoint/2010/main" val="1259562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7D625-B7FF-03F9-08EE-2D6CDB925E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2FA414C-620A-5BE9-037F-91D127878A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E3F74CC-63B7-A8B8-6E95-8D87135EC80B}"/>
              </a:ext>
            </a:extLst>
          </p:cNvPr>
          <p:cNvSpPr>
            <a:spLocks noGrp="1"/>
          </p:cNvSpPr>
          <p:nvPr>
            <p:ph type="dt" sz="half" idx="10"/>
          </p:nvPr>
        </p:nvSpPr>
        <p:spPr/>
        <p:txBody>
          <a:bodyPr/>
          <a:lstStyle/>
          <a:p>
            <a:fld id="{3258E9FC-4C65-49C2-B32F-B3A1587CD3F4}" type="datetime1">
              <a:rPr lang="en-IN" smtClean="0"/>
              <a:t>01-05-2026</a:t>
            </a:fld>
            <a:endParaRPr lang="en-IN" dirty="0"/>
          </a:p>
        </p:txBody>
      </p:sp>
      <p:sp>
        <p:nvSpPr>
          <p:cNvPr id="5" name="Footer Placeholder 4">
            <a:extLst>
              <a:ext uri="{FF2B5EF4-FFF2-40B4-BE49-F238E27FC236}">
                <a16:creationId xmlns:a16="http://schemas.microsoft.com/office/drawing/2014/main" id="{B7424A1C-0593-08E0-57BD-FF0A7A5C73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BB44A-899B-C704-D9FB-9EB78A050722}"/>
              </a:ext>
            </a:extLst>
          </p:cNvPr>
          <p:cNvSpPr>
            <a:spLocks noGrp="1"/>
          </p:cNvSpPr>
          <p:nvPr>
            <p:ph type="sldNum" sz="quarter" idx="12"/>
          </p:nvPr>
        </p:nvSpPr>
        <p:spPr/>
        <p:txBody>
          <a:bodyPr/>
          <a:lstStyle/>
          <a:p>
            <a:r>
              <a:rPr lang="en-US" dirty="0"/>
              <a:t>02</a:t>
            </a:r>
            <a:endParaRPr lang="en-IN" dirty="0"/>
          </a:p>
        </p:txBody>
      </p:sp>
    </p:spTree>
    <p:extLst>
      <p:ext uri="{BB962C8B-B14F-4D97-AF65-F5344CB8AC3E}">
        <p14:creationId xmlns:p14="http://schemas.microsoft.com/office/powerpoint/2010/main" val="2458584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0FD81-0407-A75B-0F0C-18E757F17D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5B9406-F487-1110-A2BB-6FD5914833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F9EAD4-8CD5-26FB-9087-615F2F80853E}"/>
              </a:ext>
            </a:extLst>
          </p:cNvPr>
          <p:cNvSpPr>
            <a:spLocks noGrp="1"/>
          </p:cNvSpPr>
          <p:nvPr>
            <p:ph type="dt" sz="half" idx="10"/>
          </p:nvPr>
        </p:nvSpPr>
        <p:spPr/>
        <p:txBody>
          <a:bodyPr/>
          <a:lstStyle/>
          <a:p>
            <a:fld id="{4C4CF917-CE5D-4616-90A5-C54D886D90F3}" type="datetime1">
              <a:rPr lang="en-IN" smtClean="0"/>
              <a:t>01-05-2026</a:t>
            </a:fld>
            <a:endParaRPr lang="en-IN"/>
          </a:p>
        </p:txBody>
      </p:sp>
      <p:sp>
        <p:nvSpPr>
          <p:cNvPr id="5" name="Footer Placeholder 4">
            <a:extLst>
              <a:ext uri="{FF2B5EF4-FFF2-40B4-BE49-F238E27FC236}">
                <a16:creationId xmlns:a16="http://schemas.microsoft.com/office/drawing/2014/main" id="{DA2E34B5-BFB9-D031-38C7-8549F73188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595DBA-CEAB-B061-8F9D-5DB512B443FE}"/>
              </a:ext>
            </a:extLst>
          </p:cNvPr>
          <p:cNvSpPr>
            <a:spLocks noGrp="1"/>
          </p:cNvSpPr>
          <p:nvPr>
            <p:ph type="sldNum" sz="quarter" idx="12"/>
          </p:nvPr>
        </p:nvSpPr>
        <p:spPr/>
        <p:txBody>
          <a:bodyPr/>
          <a:lstStyle/>
          <a:p>
            <a:r>
              <a:rPr lang="en-US" dirty="0"/>
              <a:t>03</a:t>
            </a:r>
            <a:endParaRPr lang="en-IN" dirty="0"/>
          </a:p>
        </p:txBody>
      </p:sp>
    </p:spTree>
    <p:extLst>
      <p:ext uri="{BB962C8B-B14F-4D97-AF65-F5344CB8AC3E}">
        <p14:creationId xmlns:p14="http://schemas.microsoft.com/office/powerpoint/2010/main" val="4144389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8E208-7381-A115-6ACE-40B95EE1EA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8B6817E-0FC3-22F7-5708-8A732AC6A6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B35348-6D09-A882-C279-29E9E752FDDC}"/>
              </a:ext>
            </a:extLst>
          </p:cNvPr>
          <p:cNvSpPr>
            <a:spLocks noGrp="1"/>
          </p:cNvSpPr>
          <p:nvPr>
            <p:ph type="dt" sz="half" idx="10"/>
          </p:nvPr>
        </p:nvSpPr>
        <p:spPr/>
        <p:txBody>
          <a:bodyPr/>
          <a:lstStyle/>
          <a:p>
            <a:fld id="{4C94BDDC-06A4-43C4-A00C-A25592959FA6}" type="datetime1">
              <a:rPr lang="en-IN" smtClean="0"/>
              <a:t>01-05-2026</a:t>
            </a:fld>
            <a:endParaRPr lang="en-IN"/>
          </a:p>
        </p:txBody>
      </p:sp>
      <p:sp>
        <p:nvSpPr>
          <p:cNvPr id="5" name="Footer Placeholder 4">
            <a:extLst>
              <a:ext uri="{FF2B5EF4-FFF2-40B4-BE49-F238E27FC236}">
                <a16:creationId xmlns:a16="http://schemas.microsoft.com/office/drawing/2014/main" id="{82F72728-AD2C-D97B-89E5-271529E8DC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FEF89D-EB79-745F-667A-E1A9AD1A0E38}"/>
              </a:ext>
            </a:extLst>
          </p:cNvPr>
          <p:cNvSpPr>
            <a:spLocks noGrp="1"/>
          </p:cNvSpPr>
          <p:nvPr>
            <p:ph type="sldNum" sz="quarter" idx="12"/>
          </p:nvPr>
        </p:nvSpPr>
        <p:spPr/>
        <p:txBody>
          <a:bodyPr/>
          <a:lstStyle/>
          <a:p>
            <a:fld id="{F89FCD1D-C407-4DE7-AE00-930DE9FC3B40}" type="slidenum">
              <a:rPr lang="en-IN" smtClean="0"/>
              <a:t>‹#›</a:t>
            </a:fld>
            <a:endParaRPr lang="en-IN"/>
          </a:p>
        </p:txBody>
      </p:sp>
    </p:spTree>
    <p:extLst>
      <p:ext uri="{BB962C8B-B14F-4D97-AF65-F5344CB8AC3E}">
        <p14:creationId xmlns:p14="http://schemas.microsoft.com/office/powerpoint/2010/main" val="2999862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44E4A-831D-E335-987B-59AD45C162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24C183-77BB-BADA-95A4-F51FDE2724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C8C4888-152B-4CBA-C484-1BD48A092A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DC2FDC0-B268-C0B4-3B3C-22555AF0828D}"/>
              </a:ext>
            </a:extLst>
          </p:cNvPr>
          <p:cNvSpPr>
            <a:spLocks noGrp="1"/>
          </p:cNvSpPr>
          <p:nvPr>
            <p:ph type="dt" sz="half" idx="10"/>
          </p:nvPr>
        </p:nvSpPr>
        <p:spPr/>
        <p:txBody>
          <a:bodyPr/>
          <a:lstStyle/>
          <a:p>
            <a:fld id="{376101E2-2DC2-43D7-B4A1-88EAFCA6143C}" type="datetime1">
              <a:rPr lang="en-IN" smtClean="0"/>
              <a:t>01-05-2026</a:t>
            </a:fld>
            <a:endParaRPr lang="en-IN"/>
          </a:p>
        </p:txBody>
      </p:sp>
      <p:sp>
        <p:nvSpPr>
          <p:cNvPr id="6" name="Footer Placeholder 5">
            <a:extLst>
              <a:ext uri="{FF2B5EF4-FFF2-40B4-BE49-F238E27FC236}">
                <a16:creationId xmlns:a16="http://schemas.microsoft.com/office/drawing/2014/main" id="{727D890F-80AA-8333-8E77-C2D0800870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F833A5-8961-4110-BBCB-0C8C058FB737}"/>
              </a:ext>
            </a:extLst>
          </p:cNvPr>
          <p:cNvSpPr>
            <a:spLocks noGrp="1"/>
          </p:cNvSpPr>
          <p:nvPr>
            <p:ph type="sldNum" sz="quarter" idx="12"/>
          </p:nvPr>
        </p:nvSpPr>
        <p:spPr/>
        <p:txBody>
          <a:bodyPr/>
          <a:lstStyle/>
          <a:p>
            <a:fld id="{F89FCD1D-C407-4DE7-AE00-930DE9FC3B40}" type="slidenum">
              <a:rPr lang="en-IN" smtClean="0"/>
              <a:t>‹#›</a:t>
            </a:fld>
            <a:endParaRPr lang="en-IN"/>
          </a:p>
        </p:txBody>
      </p:sp>
    </p:spTree>
    <p:extLst>
      <p:ext uri="{BB962C8B-B14F-4D97-AF65-F5344CB8AC3E}">
        <p14:creationId xmlns:p14="http://schemas.microsoft.com/office/powerpoint/2010/main" val="570897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B3633-28CD-92F0-0B70-22C805DB235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9B70AF-8C4B-49EB-1F10-34FF4B0BB8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069B2B-D4D4-8595-FFE8-4546097597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9194F3F-BF98-E223-B33C-4748ABB947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2B2E26-4A1B-F4E0-925B-B016AAA52B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1F28515-CF2B-FB60-46BC-3A58E1484BBB}"/>
              </a:ext>
            </a:extLst>
          </p:cNvPr>
          <p:cNvSpPr>
            <a:spLocks noGrp="1"/>
          </p:cNvSpPr>
          <p:nvPr>
            <p:ph type="dt" sz="half" idx="10"/>
          </p:nvPr>
        </p:nvSpPr>
        <p:spPr/>
        <p:txBody>
          <a:bodyPr/>
          <a:lstStyle/>
          <a:p>
            <a:fld id="{7AE56015-D015-4EEE-B3EC-AC787A1093F0}" type="datetime1">
              <a:rPr lang="en-IN" smtClean="0"/>
              <a:t>01-05-2026</a:t>
            </a:fld>
            <a:endParaRPr lang="en-IN"/>
          </a:p>
        </p:txBody>
      </p:sp>
      <p:sp>
        <p:nvSpPr>
          <p:cNvPr id="8" name="Footer Placeholder 7">
            <a:extLst>
              <a:ext uri="{FF2B5EF4-FFF2-40B4-BE49-F238E27FC236}">
                <a16:creationId xmlns:a16="http://schemas.microsoft.com/office/drawing/2014/main" id="{F018C9F4-A569-6145-311A-A5C894D641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8D230D4-E5AB-5987-3F79-5C9F4C757CCE}"/>
              </a:ext>
            </a:extLst>
          </p:cNvPr>
          <p:cNvSpPr>
            <a:spLocks noGrp="1"/>
          </p:cNvSpPr>
          <p:nvPr>
            <p:ph type="sldNum" sz="quarter" idx="12"/>
          </p:nvPr>
        </p:nvSpPr>
        <p:spPr/>
        <p:txBody>
          <a:bodyPr/>
          <a:lstStyle/>
          <a:p>
            <a:fld id="{F89FCD1D-C407-4DE7-AE00-930DE9FC3B40}" type="slidenum">
              <a:rPr lang="en-IN" smtClean="0"/>
              <a:t>‹#›</a:t>
            </a:fld>
            <a:endParaRPr lang="en-IN"/>
          </a:p>
        </p:txBody>
      </p:sp>
    </p:spTree>
    <p:extLst>
      <p:ext uri="{BB962C8B-B14F-4D97-AF65-F5344CB8AC3E}">
        <p14:creationId xmlns:p14="http://schemas.microsoft.com/office/powerpoint/2010/main" val="1018022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A371D-10F1-948A-972B-52834A04D2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7AC6C12-0FE0-C319-5448-B1AA42CA5155}"/>
              </a:ext>
            </a:extLst>
          </p:cNvPr>
          <p:cNvSpPr>
            <a:spLocks noGrp="1"/>
          </p:cNvSpPr>
          <p:nvPr>
            <p:ph type="dt" sz="half" idx="10"/>
          </p:nvPr>
        </p:nvSpPr>
        <p:spPr/>
        <p:txBody>
          <a:bodyPr/>
          <a:lstStyle/>
          <a:p>
            <a:fld id="{D4EA4A70-929E-4DEB-95F4-39F5654C46FD}" type="datetime1">
              <a:rPr lang="en-IN" smtClean="0"/>
              <a:t>01-05-2026</a:t>
            </a:fld>
            <a:endParaRPr lang="en-IN"/>
          </a:p>
        </p:txBody>
      </p:sp>
      <p:sp>
        <p:nvSpPr>
          <p:cNvPr id="4" name="Footer Placeholder 3">
            <a:extLst>
              <a:ext uri="{FF2B5EF4-FFF2-40B4-BE49-F238E27FC236}">
                <a16:creationId xmlns:a16="http://schemas.microsoft.com/office/drawing/2014/main" id="{0BC1D97E-BDE3-403A-6661-7B74C74A32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6F9C67-B0D1-96AC-8387-234B7F684541}"/>
              </a:ext>
            </a:extLst>
          </p:cNvPr>
          <p:cNvSpPr>
            <a:spLocks noGrp="1"/>
          </p:cNvSpPr>
          <p:nvPr>
            <p:ph type="sldNum" sz="quarter" idx="12"/>
          </p:nvPr>
        </p:nvSpPr>
        <p:spPr/>
        <p:txBody>
          <a:bodyPr/>
          <a:lstStyle/>
          <a:p>
            <a:fld id="{F89FCD1D-C407-4DE7-AE00-930DE9FC3B40}" type="slidenum">
              <a:rPr lang="en-IN" smtClean="0"/>
              <a:t>‹#›</a:t>
            </a:fld>
            <a:endParaRPr lang="en-IN"/>
          </a:p>
        </p:txBody>
      </p:sp>
    </p:spTree>
    <p:extLst>
      <p:ext uri="{BB962C8B-B14F-4D97-AF65-F5344CB8AC3E}">
        <p14:creationId xmlns:p14="http://schemas.microsoft.com/office/powerpoint/2010/main" val="2629785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78CA15-00E5-944E-77DD-BA22ED91B9CB}"/>
              </a:ext>
            </a:extLst>
          </p:cNvPr>
          <p:cNvSpPr>
            <a:spLocks noGrp="1"/>
          </p:cNvSpPr>
          <p:nvPr>
            <p:ph type="dt" sz="half" idx="10"/>
          </p:nvPr>
        </p:nvSpPr>
        <p:spPr/>
        <p:txBody>
          <a:bodyPr/>
          <a:lstStyle/>
          <a:p>
            <a:fld id="{D629E433-06DD-4EF6-B28E-4DD41CA5F4E8}" type="datetime1">
              <a:rPr lang="en-IN" smtClean="0"/>
              <a:t>01-05-2026</a:t>
            </a:fld>
            <a:endParaRPr lang="en-IN"/>
          </a:p>
        </p:txBody>
      </p:sp>
      <p:sp>
        <p:nvSpPr>
          <p:cNvPr id="3" name="Footer Placeholder 2">
            <a:extLst>
              <a:ext uri="{FF2B5EF4-FFF2-40B4-BE49-F238E27FC236}">
                <a16:creationId xmlns:a16="http://schemas.microsoft.com/office/drawing/2014/main" id="{A995FA0F-3DB8-835F-7E74-7D52EADAA5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6F3BAFE-A026-0D7A-E71D-2ECD354E746A}"/>
              </a:ext>
            </a:extLst>
          </p:cNvPr>
          <p:cNvSpPr>
            <a:spLocks noGrp="1"/>
          </p:cNvSpPr>
          <p:nvPr>
            <p:ph type="sldNum" sz="quarter" idx="12"/>
          </p:nvPr>
        </p:nvSpPr>
        <p:spPr/>
        <p:txBody>
          <a:bodyPr/>
          <a:lstStyle/>
          <a:p>
            <a:fld id="{F89FCD1D-C407-4DE7-AE00-930DE9FC3B40}" type="slidenum">
              <a:rPr lang="en-IN" smtClean="0"/>
              <a:t>‹#›</a:t>
            </a:fld>
            <a:endParaRPr lang="en-IN"/>
          </a:p>
        </p:txBody>
      </p:sp>
    </p:spTree>
    <p:extLst>
      <p:ext uri="{BB962C8B-B14F-4D97-AF65-F5344CB8AC3E}">
        <p14:creationId xmlns:p14="http://schemas.microsoft.com/office/powerpoint/2010/main" val="197188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EBDF-23E9-7D1A-DAA1-ABBD99EECC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D2EEA9-0134-D721-8B88-81BD5F46AC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9D0ABA-B3E4-829B-4AE3-D21D1B0BC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7D6CFF-F8FC-FD63-F03B-6E3D5C17EBD3}"/>
              </a:ext>
            </a:extLst>
          </p:cNvPr>
          <p:cNvSpPr>
            <a:spLocks noGrp="1"/>
          </p:cNvSpPr>
          <p:nvPr>
            <p:ph type="dt" sz="half" idx="10"/>
          </p:nvPr>
        </p:nvSpPr>
        <p:spPr/>
        <p:txBody>
          <a:bodyPr/>
          <a:lstStyle/>
          <a:p>
            <a:fld id="{FC29E690-B1FF-457B-947B-CB4F0357CA79}" type="datetime1">
              <a:rPr lang="en-IN" smtClean="0"/>
              <a:t>01-05-2026</a:t>
            </a:fld>
            <a:endParaRPr lang="en-IN"/>
          </a:p>
        </p:txBody>
      </p:sp>
      <p:sp>
        <p:nvSpPr>
          <p:cNvPr id="6" name="Footer Placeholder 5">
            <a:extLst>
              <a:ext uri="{FF2B5EF4-FFF2-40B4-BE49-F238E27FC236}">
                <a16:creationId xmlns:a16="http://schemas.microsoft.com/office/drawing/2014/main" id="{7EEC1D78-EC45-3D12-904F-C2EE143CD9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5AD29A-DF5A-5F94-88A0-D5C5B8FB2E94}"/>
              </a:ext>
            </a:extLst>
          </p:cNvPr>
          <p:cNvSpPr>
            <a:spLocks noGrp="1"/>
          </p:cNvSpPr>
          <p:nvPr>
            <p:ph type="sldNum" sz="quarter" idx="12"/>
          </p:nvPr>
        </p:nvSpPr>
        <p:spPr/>
        <p:txBody>
          <a:bodyPr/>
          <a:lstStyle/>
          <a:p>
            <a:fld id="{F89FCD1D-C407-4DE7-AE00-930DE9FC3B40}" type="slidenum">
              <a:rPr lang="en-IN" smtClean="0"/>
              <a:t>‹#›</a:t>
            </a:fld>
            <a:endParaRPr lang="en-IN"/>
          </a:p>
        </p:txBody>
      </p:sp>
    </p:spTree>
    <p:extLst>
      <p:ext uri="{BB962C8B-B14F-4D97-AF65-F5344CB8AC3E}">
        <p14:creationId xmlns:p14="http://schemas.microsoft.com/office/powerpoint/2010/main" val="3105356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D6CBD-A6B1-93CB-DC46-50ADDC1F85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593942A-65F0-92DB-27BE-98AE471166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AC7AFA-28AD-F9B9-F535-72BFBDAA6E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ACDE8-C090-DD42-8BD6-0DEA672A367A}"/>
              </a:ext>
            </a:extLst>
          </p:cNvPr>
          <p:cNvSpPr>
            <a:spLocks noGrp="1"/>
          </p:cNvSpPr>
          <p:nvPr>
            <p:ph type="dt" sz="half" idx="10"/>
          </p:nvPr>
        </p:nvSpPr>
        <p:spPr/>
        <p:txBody>
          <a:bodyPr/>
          <a:lstStyle/>
          <a:p>
            <a:fld id="{AF1ED0AC-335C-4D8A-85D0-E03B9014939D}" type="datetime1">
              <a:rPr lang="en-IN" smtClean="0"/>
              <a:t>01-05-2026</a:t>
            </a:fld>
            <a:endParaRPr lang="en-IN"/>
          </a:p>
        </p:txBody>
      </p:sp>
      <p:sp>
        <p:nvSpPr>
          <p:cNvPr id="6" name="Footer Placeholder 5">
            <a:extLst>
              <a:ext uri="{FF2B5EF4-FFF2-40B4-BE49-F238E27FC236}">
                <a16:creationId xmlns:a16="http://schemas.microsoft.com/office/drawing/2014/main" id="{2C4FC7EB-493E-777A-3CD5-AA235C323E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81A7B2-B1EE-0CCF-0B76-E5D092E66769}"/>
              </a:ext>
            </a:extLst>
          </p:cNvPr>
          <p:cNvSpPr>
            <a:spLocks noGrp="1"/>
          </p:cNvSpPr>
          <p:nvPr>
            <p:ph type="sldNum" sz="quarter" idx="12"/>
          </p:nvPr>
        </p:nvSpPr>
        <p:spPr/>
        <p:txBody>
          <a:bodyPr/>
          <a:lstStyle/>
          <a:p>
            <a:fld id="{F89FCD1D-C407-4DE7-AE00-930DE9FC3B40}" type="slidenum">
              <a:rPr lang="en-IN" smtClean="0"/>
              <a:t>‹#›</a:t>
            </a:fld>
            <a:endParaRPr lang="en-IN"/>
          </a:p>
        </p:txBody>
      </p:sp>
    </p:spTree>
    <p:extLst>
      <p:ext uri="{BB962C8B-B14F-4D97-AF65-F5344CB8AC3E}">
        <p14:creationId xmlns:p14="http://schemas.microsoft.com/office/powerpoint/2010/main" val="1459288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B6335-E358-8D8B-F024-B92232CE3A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B6A073-6B33-40ED-68EC-DF40BEB10F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DB4C6B-70F3-222A-8630-27AD0E776E17}"/>
              </a:ext>
            </a:extLst>
          </p:cNvPr>
          <p:cNvSpPr>
            <a:spLocks noGrp="1"/>
          </p:cNvSpPr>
          <p:nvPr>
            <p:ph type="dt" sz="half" idx="10"/>
          </p:nvPr>
        </p:nvSpPr>
        <p:spPr/>
        <p:txBody>
          <a:bodyPr/>
          <a:lstStyle/>
          <a:p>
            <a:fld id="{FB86F8F9-B20D-4A61-A05E-1BE64D91571F}" type="datetime1">
              <a:rPr lang="en-IN" smtClean="0"/>
              <a:t>01-05-2026</a:t>
            </a:fld>
            <a:endParaRPr lang="en-IN"/>
          </a:p>
        </p:txBody>
      </p:sp>
      <p:sp>
        <p:nvSpPr>
          <p:cNvPr id="5" name="Footer Placeholder 4">
            <a:extLst>
              <a:ext uri="{FF2B5EF4-FFF2-40B4-BE49-F238E27FC236}">
                <a16:creationId xmlns:a16="http://schemas.microsoft.com/office/drawing/2014/main" id="{36EB1961-EC62-A4B2-F002-29A9114502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2D139D-87A9-7279-2471-AA14DDE7140B}"/>
              </a:ext>
            </a:extLst>
          </p:cNvPr>
          <p:cNvSpPr>
            <a:spLocks noGrp="1"/>
          </p:cNvSpPr>
          <p:nvPr>
            <p:ph type="sldNum" sz="quarter" idx="12"/>
          </p:nvPr>
        </p:nvSpPr>
        <p:spPr/>
        <p:txBody>
          <a:bodyPr/>
          <a:lstStyle/>
          <a:p>
            <a:fld id="{F89FCD1D-C407-4DE7-AE00-930DE9FC3B40}" type="slidenum">
              <a:rPr lang="en-IN" smtClean="0"/>
              <a:t>‹#›</a:t>
            </a:fld>
            <a:endParaRPr lang="en-IN"/>
          </a:p>
        </p:txBody>
      </p:sp>
    </p:spTree>
    <p:extLst>
      <p:ext uri="{BB962C8B-B14F-4D97-AF65-F5344CB8AC3E}">
        <p14:creationId xmlns:p14="http://schemas.microsoft.com/office/powerpoint/2010/main" val="2023183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6C15AB-9C23-E2BC-028B-014794DC3B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FFAAEF-403F-BF81-C9B7-C6DA0E45AC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F99DD5-D449-346C-89F2-65C12055F7E6}"/>
              </a:ext>
            </a:extLst>
          </p:cNvPr>
          <p:cNvSpPr>
            <a:spLocks noGrp="1"/>
          </p:cNvSpPr>
          <p:nvPr>
            <p:ph type="dt" sz="half" idx="10"/>
          </p:nvPr>
        </p:nvSpPr>
        <p:spPr/>
        <p:txBody>
          <a:bodyPr/>
          <a:lstStyle/>
          <a:p>
            <a:fld id="{D0A20553-D452-42FD-8C76-A5B1DF259DCF}" type="datetime1">
              <a:rPr lang="en-IN" smtClean="0"/>
              <a:t>01-05-2026</a:t>
            </a:fld>
            <a:endParaRPr lang="en-IN"/>
          </a:p>
        </p:txBody>
      </p:sp>
      <p:sp>
        <p:nvSpPr>
          <p:cNvPr id="5" name="Footer Placeholder 4">
            <a:extLst>
              <a:ext uri="{FF2B5EF4-FFF2-40B4-BE49-F238E27FC236}">
                <a16:creationId xmlns:a16="http://schemas.microsoft.com/office/drawing/2014/main" id="{6ED086F3-C709-8261-8C02-69FAC5D548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71ECFC-B188-0F30-01CC-06EEFCF2DAB2}"/>
              </a:ext>
            </a:extLst>
          </p:cNvPr>
          <p:cNvSpPr>
            <a:spLocks noGrp="1"/>
          </p:cNvSpPr>
          <p:nvPr>
            <p:ph type="sldNum" sz="quarter" idx="12"/>
          </p:nvPr>
        </p:nvSpPr>
        <p:spPr/>
        <p:txBody>
          <a:bodyPr/>
          <a:lstStyle/>
          <a:p>
            <a:fld id="{F89FCD1D-C407-4DE7-AE00-930DE9FC3B40}" type="slidenum">
              <a:rPr lang="en-IN" smtClean="0"/>
              <a:t>‹#›</a:t>
            </a:fld>
            <a:endParaRPr lang="en-IN"/>
          </a:p>
        </p:txBody>
      </p:sp>
    </p:spTree>
    <p:extLst>
      <p:ext uri="{BB962C8B-B14F-4D97-AF65-F5344CB8AC3E}">
        <p14:creationId xmlns:p14="http://schemas.microsoft.com/office/powerpoint/2010/main" val="1266568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24BDB8-EA7A-33FE-0757-8E4306F424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E30E47-2516-CE14-22A9-9E568A1863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C1D43894-2D26-5C24-99BB-A76FE32F5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E49DAC-4D67-49D1-A815-3A3D470F68AC}" type="datetime1">
              <a:rPr lang="en-IN" smtClean="0"/>
              <a:t>01-05-2026</a:t>
            </a:fld>
            <a:endParaRPr lang="en-IN" dirty="0"/>
          </a:p>
        </p:txBody>
      </p:sp>
      <p:sp>
        <p:nvSpPr>
          <p:cNvPr id="5" name="Footer Placeholder 4">
            <a:extLst>
              <a:ext uri="{FF2B5EF4-FFF2-40B4-BE49-F238E27FC236}">
                <a16:creationId xmlns:a16="http://schemas.microsoft.com/office/drawing/2014/main" id="{D45DE413-0E34-58A3-691C-F13E6616E4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2F5CD3C-F71F-C5C5-1F91-81700CDFB4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01</a:t>
            </a:r>
          </a:p>
        </p:txBody>
      </p:sp>
      <p:pic>
        <p:nvPicPr>
          <p:cNvPr id="8" name="Picture 7">
            <a:extLst>
              <a:ext uri="{FF2B5EF4-FFF2-40B4-BE49-F238E27FC236}">
                <a16:creationId xmlns:a16="http://schemas.microsoft.com/office/drawing/2014/main" id="{CCC3A950-B1F7-072E-8DFF-0569C079274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363199" y="365125"/>
            <a:ext cx="1607125" cy="479613"/>
          </a:xfrm>
          <a:prstGeom prst="rect">
            <a:avLst/>
          </a:prstGeom>
        </p:spPr>
      </p:pic>
    </p:spTree>
    <p:extLst>
      <p:ext uri="{BB962C8B-B14F-4D97-AF65-F5344CB8AC3E}">
        <p14:creationId xmlns:p14="http://schemas.microsoft.com/office/powerpoint/2010/main" val="546290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C217B-DDF7-17C3-48BC-E87909785219}"/>
              </a:ext>
            </a:extLst>
          </p:cNvPr>
          <p:cNvSpPr>
            <a:spLocks noGrp="1"/>
          </p:cNvSpPr>
          <p:nvPr>
            <p:ph type="ctrTitle"/>
          </p:nvPr>
        </p:nvSpPr>
        <p:spPr>
          <a:xfrm>
            <a:off x="1524000" y="1764890"/>
            <a:ext cx="9144000" cy="1745072"/>
          </a:xfrm>
        </p:spPr>
        <p:txBody>
          <a:bodyPr>
            <a:normAutofit fontScale="90000"/>
          </a:bodyPr>
          <a:lstStyle/>
          <a:p>
            <a:br>
              <a:rPr lang="en-IN" dirty="0"/>
            </a:br>
            <a:r>
              <a:rPr lang="en-US" dirty="0"/>
              <a:t> </a:t>
            </a:r>
            <a:r>
              <a:rPr lang="en-US" sz="3600" b="1" dirty="0">
                <a:latin typeface="Times New Roman" panose="02020603050405020304" pitchFamily="18" charset="0"/>
                <a:cs typeface="Times New Roman" panose="02020603050405020304" pitchFamily="18" charset="0"/>
              </a:rPr>
              <a:t>Performance and Economic Analysis of Electric Vehicle Charging Integration in the WSCC 9-Bus System</a:t>
            </a:r>
            <a:endParaRPr lang="en-IN"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984A925-922F-9863-0688-31271E9A7A0F}"/>
              </a:ext>
            </a:extLst>
          </p:cNvPr>
          <p:cNvSpPr>
            <a:spLocks noGrp="1"/>
          </p:cNvSpPr>
          <p:nvPr>
            <p:ph type="subTitle" idx="1"/>
          </p:nvPr>
        </p:nvSpPr>
        <p:spPr>
          <a:xfrm>
            <a:off x="3696929" y="3536816"/>
            <a:ext cx="5102942" cy="730383"/>
          </a:xfrm>
        </p:spPr>
        <p:txBody>
          <a:bodyPr>
            <a:noAutofit/>
          </a:bodyPr>
          <a:lstStyle/>
          <a:p>
            <a:r>
              <a:rPr lang="en-IN" sz="2200" dirty="0">
                <a:latin typeface="Times New Roman" panose="02020603050405020304" pitchFamily="18" charset="0"/>
                <a:cs typeface="Times New Roman" panose="02020603050405020304" pitchFamily="18" charset="0"/>
              </a:rPr>
              <a:t>Department of Electrical &amp; Electronics Engineering</a:t>
            </a:r>
          </a:p>
        </p:txBody>
      </p:sp>
      <p:sp>
        <p:nvSpPr>
          <p:cNvPr id="11" name="Subtitle 2">
            <a:extLst>
              <a:ext uri="{FF2B5EF4-FFF2-40B4-BE49-F238E27FC236}">
                <a16:creationId xmlns:a16="http://schemas.microsoft.com/office/drawing/2014/main" id="{EBACDBC6-F93E-E888-EE5E-33AD8E0823D8}"/>
              </a:ext>
            </a:extLst>
          </p:cNvPr>
          <p:cNvSpPr txBox="1">
            <a:spLocks/>
          </p:cNvSpPr>
          <p:nvPr/>
        </p:nvSpPr>
        <p:spPr>
          <a:xfrm>
            <a:off x="690008" y="5173579"/>
            <a:ext cx="4168877" cy="144042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IN" sz="2200" dirty="0">
                <a:latin typeface="Times New Roman" panose="02020603050405020304" pitchFamily="18" charset="0"/>
                <a:cs typeface="Times New Roman" panose="02020603050405020304" pitchFamily="18" charset="0"/>
              </a:rPr>
              <a:t>Under the Guidance of:</a:t>
            </a:r>
          </a:p>
          <a:p>
            <a:pPr algn="just"/>
            <a:r>
              <a:rPr lang="en-IN" sz="2200" dirty="0">
                <a:latin typeface="Times New Roman" panose="02020603050405020304" pitchFamily="18" charset="0"/>
                <a:cs typeface="Times New Roman" panose="02020603050405020304" pitchFamily="18" charset="0"/>
              </a:rPr>
              <a:t>Prof. Rajan Kumar Mishra</a:t>
            </a:r>
          </a:p>
        </p:txBody>
      </p:sp>
      <p:graphicFrame>
        <p:nvGraphicFramePr>
          <p:cNvPr id="4" name="Table 3">
            <a:extLst>
              <a:ext uri="{FF2B5EF4-FFF2-40B4-BE49-F238E27FC236}">
                <a16:creationId xmlns:a16="http://schemas.microsoft.com/office/drawing/2014/main" id="{5BE5B30A-553A-34A0-7620-CF852B60B239}"/>
              </a:ext>
            </a:extLst>
          </p:cNvPr>
          <p:cNvGraphicFramePr>
            <a:graphicFrameLocks noGrp="1"/>
          </p:cNvGraphicFramePr>
          <p:nvPr>
            <p:extLst>
              <p:ext uri="{D42A27DB-BD31-4B8C-83A1-F6EECF244321}">
                <p14:modId xmlns:p14="http://schemas.microsoft.com/office/powerpoint/2010/main" val="109342805"/>
              </p:ext>
            </p:extLst>
          </p:nvPr>
        </p:nvGraphicFramePr>
        <p:xfrm>
          <a:off x="7502010" y="4554148"/>
          <a:ext cx="4413633" cy="2146380"/>
        </p:xfrm>
        <a:graphic>
          <a:graphicData uri="http://schemas.openxmlformats.org/drawingml/2006/table">
            <a:tbl>
              <a:tblPr firstRow="1" lastRow="1" bandRow="1">
                <a:tableStyleId>{2D5ABB26-0587-4C30-8999-92F81FD0307C}</a:tableStyleId>
              </a:tblPr>
              <a:tblGrid>
                <a:gridCol w="2221040">
                  <a:extLst>
                    <a:ext uri="{9D8B030D-6E8A-4147-A177-3AD203B41FA5}">
                      <a16:colId xmlns:a16="http://schemas.microsoft.com/office/drawing/2014/main" val="3589591510"/>
                    </a:ext>
                  </a:extLst>
                </a:gridCol>
                <a:gridCol w="2192593">
                  <a:extLst>
                    <a:ext uri="{9D8B030D-6E8A-4147-A177-3AD203B41FA5}">
                      <a16:colId xmlns:a16="http://schemas.microsoft.com/office/drawing/2014/main" val="2576299986"/>
                    </a:ext>
                  </a:extLst>
                </a:gridCol>
              </a:tblGrid>
              <a:tr h="376575">
                <a:tc>
                  <a:txBody>
                    <a:bodyPr/>
                    <a:lstStyle/>
                    <a:p>
                      <a:pPr algn="l"/>
                      <a:r>
                        <a:rPr lang="en-IN" dirty="0">
                          <a:latin typeface="Times New Roman" panose="02020603050405020304" pitchFamily="18" charset="0"/>
                          <a:cs typeface="Times New Roman" panose="02020603050405020304" pitchFamily="18" charset="0"/>
                        </a:rPr>
                        <a:t>Presented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IN" dirty="0">
                          <a:latin typeface="Times New Roman" panose="02020603050405020304" pitchFamily="18" charset="0"/>
                          <a:cs typeface="Times New Roman" panose="02020603050405020304" pitchFamily="18" charset="0"/>
                        </a:rPr>
                        <a:t>Grp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8387035"/>
                  </a:ext>
                </a:extLst>
              </a:tr>
              <a:tr h="376575">
                <a:tc>
                  <a:txBody>
                    <a:bodyPr/>
                    <a:lstStyle/>
                    <a:p>
                      <a:pPr algn="l"/>
                      <a:r>
                        <a:rPr lang="en-IN" dirty="0">
                          <a:latin typeface="Times New Roman" panose="02020603050405020304" pitchFamily="18" charset="0"/>
                          <a:cs typeface="Times New Roman" panose="02020603050405020304" pitchFamily="18" charset="0"/>
                        </a:rPr>
                        <a:t>Hasina Fatema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latin typeface="Times New Roman" panose="02020603050405020304" pitchFamily="18" charset="0"/>
                          <a:cs typeface="Times New Roman" panose="02020603050405020304" pitchFamily="18" charset="0"/>
                        </a:rPr>
                        <a:t>22BEEJ64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6294205"/>
                  </a:ext>
                </a:extLst>
              </a:tr>
              <a:tr h="376575">
                <a:tc>
                  <a:txBody>
                    <a:bodyPr/>
                    <a:lstStyle/>
                    <a:p>
                      <a:pPr algn="l"/>
                      <a:r>
                        <a:rPr lang="en-IN" sz="1800" b="0" u="none" strike="noStrike" kern="1200" baseline="0" dirty="0">
                          <a:solidFill>
                            <a:schemeClr val="dk1"/>
                          </a:solidFill>
                          <a:latin typeface="Times New Roman" panose="02020603050405020304" pitchFamily="18" charset="0"/>
                          <a:cs typeface="Times New Roman" panose="02020603050405020304" pitchFamily="18" charset="0"/>
                        </a:rPr>
                        <a:t>Laxmi Narayan Sahoo</a:t>
                      </a:r>
                      <a:endParaRPr lang="en-IN" sz="18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latin typeface="Times New Roman" panose="02020603050405020304" pitchFamily="18" charset="0"/>
                          <a:cs typeface="Times New Roman" panose="02020603050405020304" pitchFamily="18" charset="0"/>
                        </a:rPr>
                        <a:t>22BEEI87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1667363"/>
                  </a:ext>
                </a:extLst>
              </a:tr>
              <a:tr h="376575">
                <a:tc>
                  <a:txBody>
                    <a:bodyPr/>
                    <a:lstStyle/>
                    <a:p>
                      <a:pPr algn="l"/>
                      <a:r>
                        <a:rPr lang="en-IN" dirty="0">
                          <a:latin typeface="Times New Roman" panose="02020603050405020304" pitchFamily="18" charset="0"/>
                          <a:cs typeface="Times New Roman" panose="02020603050405020304" pitchFamily="18" charset="0"/>
                        </a:rPr>
                        <a:t>Shaswat Kanungo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latin typeface="Times New Roman" panose="02020603050405020304" pitchFamily="18" charset="0"/>
                          <a:cs typeface="Times New Roman" panose="02020603050405020304" pitchFamily="18" charset="0"/>
                        </a:rPr>
                        <a:t>22BEEI24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351227"/>
                  </a:ext>
                </a:extLst>
              </a:tr>
              <a:tr h="376575">
                <a:tc>
                  <a:txBody>
                    <a:bodyPr/>
                    <a:lstStyle/>
                    <a:p>
                      <a:pPr algn="l"/>
                      <a:r>
                        <a:rPr lang="en-IN" dirty="0">
                          <a:latin typeface="Times New Roman" panose="02020603050405020304" pitchFamily="18" charset="0"/>
                          <a:cs typeface="Times New Roman" panose="02020603050405020304" pitchFamily="18" charset="0"/>
                        </a:rPr>
                        <a:t>Priyanshu Sinha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dirty="0">
                          <a:latin typeface="Times New Roman" panose="02020603050405020304" pitchFamily="18" charset="0"/>
                          <a:cs typeface="Times New Roman" panose="02020603050405020304" pitchFamily="18" charset="0"/>
                        </a:rPr>
                        <a:t>22BEEC35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6611063"/>
                  </a:ext>
                </a:extLst>
              </a:tr>
            </a:tbl>
          </a:graphicData>
        </a:graphic>
      </p:graphicFrame>
    </p:spTree>
    <p:extLst>
      <p:ext uri="{BB962C8B-B14F-4D97-AF65-F5344CB8AC3E}">
        <p14:creationId xmlns:p14="http://schemas.microsoft.com/office/powerpoint/2010/main" val="2357741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29C7E-43B8-4F6F-0AC3-303E35E0256B}"/>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CONTENT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4B806F-7FB0-26BD-8C67-6F61B08083D6}"/>
              </a:ext>
            </a:extLst>
          </p:cNvPr>
          <p:cNvSpPr>
            <a:spLocks noGrp="1"/>
          </p:cNvSpPr>
          <p:nvPr>
            <p:ph idx="1"/>
          </p:nvPr>
        </p:nvSpPr>
        <p:spPr>
          <a:xfrm>
            <a:off x="838200" y="1825624"/>
            <a:ext cx="10515600" cy="4895851"/>
          </a:xfrm>
        </p:spPr>
        <p:txBody>
          <a:bodyPr>
            <a:normAutofit fontScale="47500" lnSpcReduction="20000"/>
          </a:bodyPr>
          <a:lstStyle/>
          <a:p>
            <a:pPr algn="just"/>
            <a:r>
              <a:rPr lang="en-US" sz="4800" dirty="0">
                <a:latin typeface="Times New Roman" panose="02020603050405020304" pitchFamily="18" charset="0"/>
                <a:cs typeface="Times New Roman" panose="02020603050405020304" pitchFamily="18" charset="0"/>
              </a:rPr>
              <a:t>Introduction</a:t>
            </a:r>
          </a:p>
          <a:p>
            <a:pPr algn="just"/>
            <a:r>
              <a:rPr lang="en-US" sz="4800" dirty="0">
                <a:latin typeface="Times New Roman" panose="02020603050405020304" pitchFamily="18" charset="0"/>
                <a:cs typeface="Times New Roman" panose="02020603050405020304" pitchFamily="18" charset="0"/>
              </a:rPr>
              <a:t>Motivation</a:t>
            </a:r>
          </a:p>
          <a:p>
            <a:pPr algn="just"/>
            <a:r>
              <a:rPr lang="en-US" sz="4800" dirty="0">
                <a:latin typeface="Times New Roman" panose="02020603050405020304" pitchFamily="18" charset="0"/>
                <a:cs typeface="Times New Roman" panose="02020603050405020304" pitchFamily="18" charset="0"/>
              </a:rPr>
              <a:t>Problem Statement</a:t>
            </a:r>
          </a:p>
          <a:p>
            <a:pPr algn="just"/>
            <a:r>
              <a:rPr lang="en-US" sz="4800" dirty="0">
                <a:latin typeface="Times New Roman" panose="02020603050405020304" pitchFamily="18" charset="0"/>
                <a:cs typeface="Times New Roman" panose="02020603050405020304" pitchFamily="18" charset="0"/>
              </a:rPr>
              <a:t>Objectives</a:t>
            </a:r>
          </a:p>
          <a:p>
            <a:pPr algn="just"/>
            <a:r>
              <a:rPr lang="en-US" sz="4800" dirty="0">
                <a:latin typeface="Times New Roman" panose="02020603050405020304" pitchFamily="18" charset="0"/>
                <a:cs typeface="Times New Roman" panose="02020603050405020304" pitchFamily="18" charset="0"/>
              </a:rPr>
              <a:t>WSCC 9-Bus Test System</a:t>
            </a:r>
          </a:p>
          <a:p>
            <a:pPr algn="just"/>
            <a:r>
              <a:rPr lang="en-US" sz="4800" dirty="0">
                <a:latin typeface="Times New Roman" panose="02020603050405020304" pitchFamily="18" charset="0"/>
                <a:cs typeface="Times New Roman" panose="02020603050405020304" pitchFamily="18" charset="0"/>
              </a:rPr>
              <a:t>Newton-Raphson Method</a:t>
            </a:r>
          </a:p>
          <a:p>
            <a:pPr algn="just"/>
            <a:r>
              <a:rPr lang="en-US" sz="4800" dirty="0">
                <a:latin typeface="Times New Roman" panose="02020603050405020304" pitchFamily="18" charset="0"/>
                <a:cs typeface="Times New Roman" panose="02020603050405020304" pitchFamily="18" charset="0"/>
              </a:rPr>
              <a:t>Particle Swarm Optimization (PSO)</a:t>
            </a:r>
          </a:p>
          <a:p>
            <a:pPr algn="just"/>
            <a:r>
              <a:rPr lang="en-US" sz="4800" dirty="0">
                <a:latin typeface="Times New Roman" panose="02020603050405020304" pitchFamily="18" charset="0"/>
                <a:cs typeface="Times New Roman" panose="02020603050405020304" pitchFamily="18" charset="0"/>
              </a:rPr>
              <a:t>Methodology</a:t>
            </a:r>
          </a:p>
          <a:p>
            <a:pPr algn="just"/>
            <a:r>
              <a:rPr lang="en-US" sz="4800" dirty="0">
                <a:latin typeface="Times New Roman" panose="02020603050405020304" pitchFamily="18" charset="0"/>
                <a:cs typeface="Times New Roman" panose="02020603050405020304" pitchFamily="18" charset="0"/>
              </a:rPr>
              <a:t>Case Studies</a:t>
            </a:r>
          </a:p>
          <a:p>
            <a:pPr algn="just"/>
            <a:r>
              <a:rPr lang="en-US" sz="4800" dirty="0">
                <a:latin typeface="Times New Roman" panose="02020603050405020304" pitchFamily="18" charset="0"/>
                <a:cs typeface="Times New Roman" panose="02020603050405020304" pitchFamily="18" charset="0"/>
              </a:rPr>
              <a:t>Results and Discussion</a:t>
            </a:r>
          </a:p>
          <a:p>
            <a:pPr algn="just"/>
            <a:r>
              <a:rPr lang="en-US" sz="4800" dirty="0">
                <a:latin typeface="Times New Roman" panose="02020603050405020304" pitchFamily="18" charset="0"/>
                <a:cs typeface="Times New Roman" panose="02020603050405020304" pitchFamily="18" charset="0"/>
              </a:rPr>
              <a:t>Conclusion</a:t>
            </a:r>
          </a:p>
          <a:p>
            <a:pPr algn="just"/>
            <a:r>
              <a:rPr lang="en-US" sz="4800" dirty="0">
                <a:latin typeface="Times New Roman" panose="02020603050405020304" pitchFamily="18" charset="0"/>
                <a:cs typeface="Times New Roman" panose="02020603050405020304" pitchFamily="18" charset="0"/>
              </a:rPr>
              <a:t>Future Scope</a:t>
            </a:r>
          </a:p>
          <a:p>
            <a:pPr algn="just"/>
            <a:r>
              <a:rPr lang="en-US" sz="4800" dirty="0">
                <a:latin typeface="Times New Roman" panose="02020603050405020304" pitchFamily="18" charset="0"/>
                <a:cs typeface="Times New Roman" panose="02020603050405020304" pitchFamily="18" charset="0"/>
              </a:rPr>
              <a:t>References</a:t>
            </a:r>
          </a:p>
          <a:p>
            <a:endParaRPr lang="en-IN"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94BE713-2B30-4C35-F1BE-FDC19C864D2B}"/>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01</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3278529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73E02-6989-88B0-9A65-26AFB36BE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8804A-84FC-9C74-664D-64203C471B05}"/>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ECF3F5-62EF-47AB-B606-B768A197F5F2}"/>
              </a:ext>
            </a:extLst>
          </p:cNvPr>
          <p:cNvSpPr>
            <a:spLocks noGrp="1"/>
          </p:cNvSpPr>
          <p:nvPr>
            <p:ph idx="1"/>
          </p:nvPr>
        </p:nvSpPr>
        <p:spPr/>
        <p:txBody>
          <a:bodyPr>
            <a:normAutofit/>
          </a:bodyPr>
          <a:lstStyle/>
          <a:p>
            <a:pPr algn="just"/>
            <a:r>
              <a:rPr lang="en-US" sz="2200" dirty="0">
                <a:latin typeface="Times New Roman" panose="02020603050405020304" pitchFamily="18" charset="0"/>
                <a:cs typeface="Times New Roman" panose="02020603050405020304" pitchFamily="18" charset="0"/>
              </a:rPr>
              <a:t>Increasing Electric Vehicle (EV) adoption adds extra load to power systems.</a:t>
            </a:r>
          </a:p>
          <a:p>
            <a:pPr algn="just"/>
            <a:r>
              <a:rPr lang="en-US" sz="2200" dirty="0">
                <a:latin typeface="Times New Roman" panose="02020603050405020304" pitchFamily="18" charset="0"/>
                <a:cs typeface="Times New Roman" panose="02020603050405020304" pitchFamily="18" charset="0"/>
              </a:rPr>
              <a:t>EV charging station placement affects voltage and power losses.</a:t>
            </a:r>
          </a:p>
          <a:p>
            <a:pPr algn="just"/>
            <a:r>
              <a:rPr lang="en-US" sz="2200" dirty="0">
                <a:latin typeface="Times New Roman" panose="02020603050405020304" pitchFamily="18" charset="0"/>
                <a:cs typeface="Times New Roman" panose="02020603050405020304" pitchFamily="18" charset="0"/>
              </a:rPr>
              <a:t>Improper placement reduces system efficiency.</a:t>
            </a:r>
          </a:p>
          <a:p>
            <a:pPr algn="just"/>
            <a:r>
              <a:rPr lang="en-US" sz="2200" dirty="0">
                <a:latin typeface="Times New Roman" panose="02020603050405020304" pitchFamily="18" charset="0"/>
                <a:cs typeface="Times New Roman" panose="02020603050405020304" pitchFamily="18" charset="0"/>
              </a:rPr>
              <a:t>Load flow analysis is required for system evaluation.</a:t>
            </a:r>
          </a:p>
          <a:p>
            <a:pPr algn="just"/>
            <a:r>
              <a:rPr lang="en-US" sz="2200" dirty="0">
                <a:latin typeface="Times New Roman" panose="02020603050405020304" pitchFamily="18" charset="0"/>
                <a:cs typeface="Times New Roman" panose="02020603050405020304" pitchFamily="18" charset="0"/>
              </a:rPr>
              <a:t>WSCC 9-bus system is used for study.</a:t>
            </a:r>
          </a:p>
          <a:p>
            <a:pPr algn="just"/>
            <a:r>
              <a:rPr lang="en-US" sz="2200" dirty="0">
                <a:latin typeface="Times New Roman" panose="02020603050405020304" pitchFamily="18" charset="0"/>
                <a:cs typeface="Times New Roman" panose="02020603050405020304" pitchFamily="18" charset="0"/>
              </a:rPr>
              <a:t>Newton-Raphson load flow used for power flow analysis.</a:t>
            </a:r>
          </a:p>
          <a:p>
            <a:pPr algn="just"/>
            <a:r>
              <a:rPr lang="en-US" sz="2200" dirty="0">
                <a:latin typeface="Times New Roman" panose="02020603050405020304" pitchFamily="18" charset="0"/>
                <a:cs typeface="Times New Roman" panose="02020603050405020304" pitchFamily="18" charset="0"/>
              </a:rPr>
              <a:t>Best location selected based on voltage profile, losses, and cost.</a:t>
            </a:r>
            <a:endParaRPr lang="en-IN" sz="2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1CCE376-AE38-1AD2-FA91-F59300C7FF1C}"/>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02</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715678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E18FE-CE33-F66D-F707-3522DA0E4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6B316-D704-C71B-4D41-EAA45E578C0D}"/>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MOTIVATION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83ED0C7-521E-0F6E-E186-FB7DC1E75475}"/>
              </a:ext>
            </a:extLst>
          </p:cNvPr>
          <p:cNvSpPr>
            <a:spLocks noGrp="1"/>
          </p:cNvSpPr>
          <p:nvPr>
            <p:ph idx="1"/>
          </p:nvPr>
        </p:nvSpPr>
        <p:spPr/>
        <p:txBody>
          <a:bodyPr>
            <a:normAutofit/>
          </a:bodyPr>
          <a:lstStyle/>
          <a:p>
            <a:pPr algn="just"/>
            <a:r>
              <a:rPr lang="en-US" sz="2200" dirty="0">
                <a:latin typeface="Times New Roman" panose="02020603050405020304" pitchFamily="18" charset="0"/>
                <a:cs typeface="Times New Roman" panose="02020603050405020304" pitchFamily="18" charset="0"/>
              </a:rPr>
              <a:t>Rapid growth of EVs increases power demand.</a:t>
            </a:r>
          </a:p>
          <a:p>
            <a:pPr algn="just"/>
            <a:r>
              <a:rPr lang="en-US" sz="2200" dirty="0">
                <a:latin typeface="Times New Roman" panose="02020603050405020304" pitchFamily="18" charset="0"/>
                <a:cs typeface="Times New Roman" panose="02020603050405020304" pitchFamily="18" charset="0"/>
              </a:rPr>
              <a:t>EV charging affects voltage instability</a:t>
            </a:r>
          </a:p>
          <a:p>
            <a:pPr algn="just"/>
            <a:r>
              <a:rPr lang="en-US" sz="2200" dirty="0">
                <a:latin typeface="Times New Roman" panose="02020603050405020304" pitchFamily="18" charset="0"/>
                <a:cs typeface="Times New Roman" panose="02020603050405020304" pitchFamily="18" charset="0"/>
              </a:rPr>
              <a:t>Improper placement increases power losses.</a:t>
            </a:r>
          </a:p>
          <a:p>
            <a:pPr algn="just"/>
            <a:r>
              <a:rPr lang="en-US" sz="2200" dirty="0">
                <a:latin typeface="Times New Roman" panose="02020603050405020304" pitchFamily="18" charset="0"/>
                <a:cs typeface="Times New Roman" panose="02020603050405020304" pitchFamily="18" charset="0"/>
              </a:rPr>
              <a:t>Operational cost increases due to EV load.</a:t>
            </a:r>
          </a:p>
          <a:p>
            <a:pPr algn="just"/>
            <a:r>
              <a:rPr lang="en-US" sz="2200" dirty="0">
                <a:latin typeface="Times New Roman" panose="02020603050405020304" pitchFamily="18" charset="0"/>
                <a:cs typeface="Times New Roman" panose="02020603050405020304" pitchFamily="18" charset="0"/>
              </a:rPr>
              <a:t>Need optimal EV charging station placement.</a:t>
            </a:r>
          </a:p>
          <a:p>
            <a:pPr algn="just"/>
            <a:r>
              <a:rPr lang="en-US" sz="2200" dirty="0">
                <a:latin typeface="Times New Roman" panose="02020603050405020304" pitchFamily="18" charset="0"/>
                <a:cs typeface="Times New Roman" panose="02020603050405020304" pitchFamily="18" charset="0"/>
              </a:rPr>
              <a:t>Improve voltage profile and reduce power losses.</a:t>
            </a:r>
          </a:p>
          <a:p>
            <a:pPr algn="just"/>
            <a:r>
              <a:rPr lang="en-US" sz="2200" dirty="0">
                <a:latin typeface="Times New Roman" panose="02020603050405020304" pitchFamily="18" charset="0"/>
                <a:cs typeface="Times New Roman" panose="02020603050405020304" pitchFamily="18" charset="0"/>
              </a:rPr>
              <a:t>Ensure economical power system operation.</a:t>
            </a:r>
          </a:p>
        </p:txBody>
      </p:sp>
      <p:sp>
        <p:nvSpPr>
          <p:cNvPr id="4" name="Slide Number Placeholder 3">
            <a:extLst>
              <a:ext uri="{FF2B5EF4-FFF2-40B4-BE49-F238E27FC236}">
                <a16:creationId xmlns:a16="http://schemas.microsoft.com/office/drawing/2014/main" id="{21BBA82E-CED2-53DB-44D4-DC3DFD50E59A}"/>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03</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1373227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36517-6476-B050-CDFF-896433F9D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57645-C84A-F892-52A2-F6DC788EA38A}"/>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PROBLEM STATEMENT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CEFAB2-ADDB-085E-47FC-ADE874F52EE2}"/>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EV charging introduces additional load to power system</a:t>
            </a:r>
          </a:p>
          <a:p>
            <a:pPr algn="just"/>
            <a:r>
              <a:rPr lang="en-US" sz="2400" dirty="0">
                <a:latin typeface="Times New Roman" panose="02020603050405020304" pitchFamily="18" charset="0"/>
                <a:cs typeface="Times New Roman" panose="02020603050405020304" pitchFamily="18" charset="0"/>
              </a:rPr>
              <a:t>Improper placement increases transmission losses.</a:t>
            </a:r>
          </a:p>
          <a:p>
            <a:pPr algn="just"/>
            <a:r>
              <a:rPr lang="en-US" sz="2400" dirty="0">
                <a:latin typeface="Times New Roman" panose="02020603050405020304" pitchFamily="18" charset="0"/>
                <a:cs typeface="Times New Roman" panose="02020603050405020304" pitchFamily="18" charset="0"/>
              </a:rPr>
              <a:t>Voltage deviation occurs at load buses.</a:t>
            </a:r>
            <a:endParaRPr lang="en-US"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Generation cost increases due to extra demand</a:t>
            </a:r>
            <a:endParaRPr lang="en-US"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Optimal EV charging bus location not identified.</a:t>
            </a:r>
          </a:p>
          <a:p>
            <a:pPr algn="just"/>
            <a:r>
              <a:rPr lang="en-US" sz="2400" dirty="0">
                <a:latin typeface="Times New Roman" panose="02020603050405020304" pitchFamily="18" charset="0"/>
                <a:cs typeface="Times New Roman" panose="02020603050405020304" pitchFamily="18" charset="0"/>
              </a:rPr>
              <a:t>Need to analyze different EV placement cases.</a:t>
            </a:r>
          </a:p>
          <a:p>
            <a:pPr algn="just"/>
            <a:r>
              <a:rPr lang="en-US" sz="2400" dirty="0">
                <a:latin typeface="Times New Roman" panose="02020603050405020304" pitchFamily="18" charset="0"/>
                <a:cs typeface="Times New Roman" panose="02020603050405020304" pitchFamily="18" charset="0"/>
              </a:rPr>
              <a:t>System performance must be evaluated.</a:t>
            </a:r>
          </a:p>
        </p:txBody>
      </p:sp>
      <p:sp>
        <p:nvSpPr>
          <p:cNvPr id="4" name="Slide Number Placeholder 3">
            <a:extLst>
              <a:ext uri="{FF2B5EF4-FFF2-40B4-BE49-F238E27FC236}">
                <a16:creationId xmlns:a16="http://schemas.microsoft.com/office/drawing/2014/main" id="{97DB6096-34B0-057B-0ED3-A594033C925A}"/>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04</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1308563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54EE6-F6F3-90D6-AD2E-2107C1ADE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3D3AF-6028-8E3F-84EF-98AEF6ED48BC}"/>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OBJECTIVES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AC7315-14B6-A4AA-AB11-0CD65A57FC19}"/>
              </a:ext>
            </a:extLst>
          </p:cNvPr>
          <p:cNvSpPr>
            <a:spLocks noGrp="1"/>
          </p:cNvSpPr>
          <p:nvPr>
            <p:ph idx="1"/>
          </p:nvPr>
        </p:nvSpPr>
        <p:spPr/>
        <p:txBody>
          <a:bodyPr>
            <a:normAutofit/>
          </a:bodyPr>
          <a:lstStyle/>
          <a:p>
            <a:pPr algn="just"/>
            <a:r>
              <a:rPr lang="en-US" sz="2200" dirty="0">
                <a:latin typeface="Times New Roman" panose="02020603050405020304" pitchFamily="18" charset="0"/>
                <a:cs typeface="Times New Roman" panose="02020603050405020304" pitchFamily="18" charset="0"/>
              </a:rPr>
              <a:t>Perform load flow analysis using Newton-Raphson method</a:t>
            </a:r>
          </a:p>
          <a:p>
            <a:pPr algn="just"/>
            <a:r>
              <a:rPr lang="en-US" sz="2200" dirty="0">
                <a:latin typeface="Times New Roman" panose="02020603050405020304" pitchFamily="18" charset="0"/>
                <a:cs typeface="Times New Roman" panose="02020603050405020304" pitchFamily="18" charset="0"/>
              </a:rPr>
              <a:t>Integrate EV charging load in WSCC 9-bus system</a:t>
            </a:r>
          </a:p>
          <a:p>
            <a:pPr algn="just"/>
            <a:r>
              <a:rPr lang="en-US" sz="2200" dirty="0">
                <a:latin typeface="Times New Roman" panose="02020603050405020304" pitchFamily="18" charset="0"/>
                <a:cs typeface="Times New Roman" panose="02020603050405020304" pitchFamily="18" charset="0"/>
              </a:rPr>
              <a:t>Apply PSO for optimal </a:t>
            </a:r>
            <a:r>
              <a:rPr lang="en-US" sz="2200" dirty="0" err="1">
                <a:latin typeface="Times New Roman" panose="02020603050405020304" pitchFamily="18" charset="0"/>
                <a:cs typeface="Times New Roman" panose="02020603050405020304" pitchFamily="18" charset="0"/>
              </a:rPr>
              <a:t>Q</a:t>
            </a:r>
            <a:r>
              <a:rPr lang="en-US" sz="2200" baseline="-25000" dirty="0" err="1">
                <a:latin typeface="Times New Roman" panose="02020603050405020304" pitchFamily="18" charset="0"/>
                <a:cs typeface="Times New Roman" panose="02020603050405020304" pitchFamily="18" charset="0"/>
              </a:rPr>
              <a:t>ev</a:t>
            </a:r>
            <a:r>
              <a:rPr lang="en-US" sz="2200" dirty="0">
                <a:latin typeface="Times New Roman" panose="02020603050405020304" pitchFamily="18" charset="0"/>
                <a:cs typeface="Times New Roman" panose="02020603050405020304" pitchFamily="18" charset="0"/>
              </a:rPr>
              <a:t> Allocation</a:t>
            </a:r>
          </a:p>
          <a:p>
            <a:pPr algn="just"/>
            <a:r>
              <a:rPr lang="en-US" sz="2200" dirty="0">
                <a:latin typeface="Times New Roman" panose="02020603050405020304" pitchFamily="18" charset="0"/>
                <a:cs typeface="Times New Roman" panose="02020603050405020304" pitchFamily="18" charset="0"/>
              </a:rPr>
              <a:t>Evaluate voltage profile and power losses</a:t>
            </a:r>
          </a:p>
          <a:p>
            <a:pPr algn="just"/>
            <a:r>
              <a:rPr lang="en-US" sz="2200" dirty="0">
                <a:latin typeface="Times New Roman" panose="02020603050405020304" pitchFamily="18" charset="0"/>
                <a:cs typeface="Times New Roman" panose="02020603050405020304" pitchFamily="18" charset="0"/>
              </a:rPr>
              <a:t>Identify optimal bus for EV charging station</a:t>
            </a:r>
          </a:p>
        </p:txBody>
      </p:sp>
      <p:sp>
        <p:nvSpPr>
          <p:cNvPr id="4" name="Slide Number Placeholder 3">
            <a:extLst>
              <a:ext uri="{FF2B5EF4-FFF2-40B4-BE49-F238E27FC236}">
                <a16:creationId xmlns:a16="http://schemas.microsoft.com/office/drawing/2014/main" id="{008CA13E-6CC6-BFDB-57E0-DC5FA3793FA8}"/>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05</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3641271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EC05B-4DED-0DD5-7218-91A5EC040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5AD56F-C4F2-21A9-22CF-2B2959A4964B}"/>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WSCC 9-Bus Test System</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9A8101C-B59D-9DA0-EF3E-FF6DBC2EC03E}"/>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Standard benchmark network used for load flow and stability analysis.</a:t>
            </a:r>
          </a:p>
          <a:p>
            <a:pPr algn="just"/>
            <a:r>
              <a:rPr lang="en-US" sz="2400" dirty="0">
                <a:latin typeface="Times New Roman" panose="02020603050405020304" pitchFamily="18" charset="0"/>
                <a:cs typeface="Times New Roman" panose="02020603050405020304" pitchFamily="18" charset="0"/>
              </a:rPr>
              <a:t>It consists of 9 buses.</a:t>
            </a:r>
          </a:p>
          <a:p>
            <a:pPr algn="just"/>
            <a:r>
              <a:rPr lang="en-US" sz="2400" dirty="0">
                <a:latin typeface="Times New Roman" panose="02020603050405020304" pitchFamily="18" charset="0"/>
                <a:cs typeface="Times New Roman" panose="02020603050405020304" pitchFamily="18" charset="0"/>
              </a:rPr>
              <a:t>Bus 1 is considered as the slack bus to balance system power.</a:t>
            </a:r>
          </a:p>
          <a:p>
            <a:pPr algn="just"/>
            <a:r>
              <a:rPr lang="en-US" sz="2400" dirty="0">
                <a:latin typeface="Times New Roman" panose="02020603050405020304" pitchFamily="18" charset="0"/>
                <a:cs typeface="Times New Roman" panose="02020603050405020304" pitchFamily="18" charset="0"/>
              </a:rPr>
              <a:t>Buses 2 and 3 are PV (generator) buses.</a:t>
            </a:r>
          </a:p>
          <a:p>
            <a:pPr algn="just"/>
            <a:r>
              <a:rPr lang="en-US" sz="2400" dirty="0">
                <a:latin typeface="Times New Roman" panose="02020603050405020304" pitchFamily="18" charset="0"/>
                <a:cs typeface="Times New Roman" panose="02020603050405020304" pitchFamily="18" charset="0"/>
              </a:rPr>
              <a:t>Buses 5,6, and 8 are load buses with specified MW and MVAR demand.</a:t>
            </a:r>
          </a:p>
          <a:p>
            <a:pPr algn="just"/>
            <a:r>
              <a:rPr lang="en-US" sz="2400" dirty="0">
                <a:latin typeface="Times New Roman" panose="02020603050405020304" pitchFamily="18" charset="0"/>
                <a:cs typeface="Times New Roman" panose="02020603050405020304" pitchFamily="18" charset="0"/>
              </a:rPr>
              <a:t>Remaining buses act as intermediate transmission buses.</a:t>
            </a:r>
          </a:p>
          <a:p>
            <a:pPr algn="just"/>
            <a:r>
              <a:rPr lang="en-US" sz="2400" dirty="0">
                <a:latin typeface="Times New Roman" panose="02020603050405020304" pitchFamily="18" charset="0"/>
                <a:cs typeface="Times New Roman" panose="02020603050405020304" pitchFamily="18" charset="0"/>
              </a:rPr>
              <a:t>Generator Buses: Bus 1 – Slack bus, Bus 2 &amp; 3 – Generator bus</a:t>
            </a:r>
          </a:p>
          <a:p>
            <a:pPr algn="just"/>
            <a:r>
              <a:rPr lang="en-US" sz="2400" dirty="0">
                <a:latin typeface="Times New Roman" panose="02020603050405020304" pitchFamily="18" charset="0"/>
                <a:cs typeface="Times New Roman" panose="02020603050405020304" pitchFamily="18" charset="0"/>
              </a:rPr>
              <a:t>Load Buses: Bus 5, 6 and 8</a:t>
            </a:r>
          </a:p>
        </p:txBody>
      </p:sp>
      <p:sp>
        <p:nvSpPr>
          <p:cNvPr id="4" name="Slide Number Placeholder 3">
            <a:extLst>
              <a:ext uri="{FF2B5EF4-FFF2-40B4-BE49-F238E27FC236}">
                <a16:creationId xmlns:a16="http://schemas.microsoft.com/office/drawing/2014/main" id="{FF6725AB-983C-1FE0-755F-F81D1C0D7CE9}"/>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06</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836621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13E4C-D8DF-FA3C-3AA5-8C9DF8EE0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E030C-D029-4328-0CEC-5DBC53D3A499}"/>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WSCC 9-Bus Test System</a:t>
            </a:r>
            <a:endParaRPr lang="en-IN" sz="32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388DF27-54C8-468B-3F7C-AD7BBA33C93C}"/>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07</a:t>
            </a:r>
            <a:endParaRPr lang="en-IN" dirty="0">
              <a:solidFill>
                <a:schemeClr val="tx1"/>
              </a:solidFill>
              <a:latin typeface="Arial Black" panose="020B0A04020102020204" pitchFamily="34" charset="0"/>
            </a:endParaRPr>
          </a:p>
        </p:txBody>
      </p:sp>
      <p:pic>
        <p:nvPicPr>
          <p:cNvPr id="10" name="Content Placeholder 9">
            <a:extLst>
              <a:ext uri="{FF2B5EF4-FFF2-40B4-BE49-F238E27FC236}">
                <a16:creationId xmlns:a16="http://schemas.microsoft.com/office/drawing/2014/main" id="{6F8C4F3A-959A-0B58-D40E-B181792899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9222" y="1355003"/>
            <a:ext cx="4804883" cy="5001347"/>
          </a:xfrm>
          <a:prstGeom prst="rect">
            <a:avLst/>
          </a:prstGeom>
        </p:spPr>
      </p:pic>
      <p:sp>
        <p:nvSpPr>
          <p:cNvPr id="11" name="TextBox 10">
            <a:extLst>
              <a:ext uri="{FF2B5EF4-FFF2-40B4-BE49-F238E27FC236}">
                <a16:creationId xmlns:a16="http://schemas.microsoft.com/office/drawing/2014/main" id="{C07874DF-2488-FC34-E99D-D226AA69A838}"/>
              </a:ext>
            </a:extLst>
          </p:cNvPr>
          <p:cNvSpPr txBox="1"/>
          <p:nvPr/>
        </p:nvSpPr>
        <p:spPr>
          <a:xfrm>
            <a:off x="505053" y="6388267"/>
            <a:ext cx="5414483"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1: WSCC 9-Bus Test System Single Line Diagram</a:t>
            </a:r>
          </a:p>
        </p:txBody>
      </p:sp>
      <p:sp>
        <p:nvSpPr>
          <p:cNvPr id="12" name="TextBox 11">
            <a:extLst>
              <a:ext uri="{FF2B5EF4-FFF2-40B4-BE49-F238E27FC236}">
                <a16:creationId xmlns:a16="http://schemas.microsoft.com/office/drawing/2014/main" id="{B5224B7F-38FA-9E02-AD4A-17B251D0D723}"/>
              </a:ext>
            </a:extLst>
          </p:cNvPr>
          <p:cNvSpPr txBox="1"/>
          <p:nvPr/>
        </p:nvSpPr>
        <p:spPr>
          <a:xfrm>
            <a:off x="5919537" y="1572126"/>
            <a:ext cx="5919537" cy="397031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System Features: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Transmission lines represented using impedance (R + </a:t>
            </a:r>
            <a:r>
              <a:rPr lang="en-IN" dirty="0" err="1">
                <a:latin typeface="Times New Roman" panose="02020603050405020304" pitchFamily="18" charset="0"/>
                <a:cs typeface="Times New Roman" panose="02020603050405020304" pitchFamily="18" charset="0"/>
              </a:rPr>
              <a:t>jX</a:t>
            </a:r>
            <a:r>
              <a:rPr lang="en-IN"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Line charging represented using B/2 values.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Transformers included with tap ratios.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Network operates at multiple voltage levels.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Used for power flow and economic analysis.</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Purpose of Using WSCC 9-Bus: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Standard test system for research</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Easy to analyse EV load integration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Suitable for Newton-Raphson load flow</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evaluate voltage profile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Used to calculate transmission losses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identify optimal EV charging bus location</a:t>
            </a:r>
          </a:p>
        </p:txBody>
      </p:sp>
    </p:spTree>
    <p:extLst>
      <p:ext uri="{BB962C8B-B14F-4D97-AF65-F5344CB8AC3E}">
        <p14:creationId xmlns:p14="http://schemas.microsoft.com/office/powerpoint/2010/main" val="3296986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34AB2-475F-4ACB-2956-06EE5ABC6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CAF090-9B6C-8C08-06B9-7F2BD1C05B67}"/>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Newton-Raphson Method</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07C000-A00A-71F1-0E2C-236B8F06B882}"/>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Iterative numerical method for load flow analysis.</a:t>
            </a:r>
          </a:p>
          <a:p>
            <a:pPr algn="just"/>
            <a:r>
              <a:rPr lang="en-US" sz="2400" dirty="0">
                <a:latin typeface="Times New Roman" panose="02020603050405020304" pitchFamily="18" charset="0"/>
                <a:cs typeface="Times New Roman" panose="02020603050405020304" pitchFamily="18" charset="0"/>
              </a:rPr>
              <a:t>Solves nonlinear power flow equations.</a:t>
            </a:r>
          </a:p>
          <a:p>
            <a:pPr algn="just"/>
            <a:r>
              <a:rPr lang="en-US" sz="2400" dirty="0">
                <a:latin typeface="Times New Roman" panose="02020603050405020304" pitchFamily="18" charset="0"/>
                <a:cs typeface="Times New Roman" panose="02020603050405020304" pitchFamily="18" charset="0"/>
              </a:rPr>
              <a:t>Uses Jacobian matrix.</a:t>
            </a:r>
          </a:p>
          <a:p>
            <a:pPr algn="just"/>
            <a:r>
              <a:rPr lang="en-US" sz="2400" dirty="0">
                <a:latin typeface="Times New Roman" panose="02020603050405020304" pitchFamily="18" charset="0"/>
                <a:cs typeface="Times New Roman" panose="02020603050405020304" pitchFamily="18" charset="0"/>
              </a:rPr>
              <a:t>Provides fast convergence.</a:t>
            </a:r>
          </a:p>
          <a:p>
            <a:pPr algn="just"/>
            <a:r>
              <a:rPr lang="en-US" sz="2400" dirty="0">
                <a:latin typeface="Times New Roman" panose="02020603050405020304" pitchFamily="18" charset="0"/>
                <a:cs typeface="Times New Roman" panose="02020603050405020304" pitchFamily="18" charset="0"/>
              </a:rPr>
              <a:t>High accuracy solution.</a:t>
            </a:r>
          </a:p>
          <a:p>
            <a:pPr algn="just"/>
            <a:r>
              <a:rPr lang="en-US" sz="2400" dirty="0">
                <a:latin typeface="Times New Roman" panose="02020603050405020304" pitchFamily="18" charset="0"/>
                <a:cs typeface="Times New Roman" panose="02020603050405020304" pitchFamily="18" charset="0"/>
              </a:rPr>
              <a:t>Requires fewer iterations.</a:t>
            </a:r>
          </a:p>
          <a:p>
            <a:pPr algn="just"/>
            <a:r>
              <a:rPr lang="en-US" sz="2400" dirty="0">
                <a:latin typeface="Times New Roman" panose="02020603050405020304" pitchFamily="18" charset="0"/>
                <a:cs typeface="Times New Roman" panose="02020603050405020304" pitchFamily="18" charset="0"/>
              </a:rPr>
              <a:t>Suitable for large power systems.</a:t>
            </a:r>
          </a:p>
        </p:txBody>
      </p:sp>
      <p:sp>
        <p:nvSpPr>
          <p:cNvPr id="4" name="Slide Number Placeholder 3">
            <a:extLst>
              <a:ext uri="{FF2B5EF4-FFF2-40B4-BE49-F238E27FC236}">
                <a16:creationId xmlns:a16="http://schemas.microsoft.com/office/drawing/2014/main" id="{3222F0E3-88F2-7F53-984F-601AB7011242}"/>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08</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2479655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EB0C1-9C21-40DF-DD50-C9983FECF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3D5B8-A4B7-FB80-465D-5CC176E3F76E}"/>
              </a:ext>
            </a:extLst>
          </p:cNvPr>
          <p:cNvSpPr>
            <a:spLocks noGrp="1"/>
          </p:cNvSpPr>
          <p:nvPr>
            <p:ph type="title"/>
          </p:nvPr>
        </p:nvSpPr>
        <p:spPr>
          <a:xfrm>
            <a:off x="617991" y="-267515"/>
            <a:ext cx="10515600" cy="1325563"/>
          </a:xfrm>
        </p:spPr>
        <p:txBody>
          <a:bodyPr>
            <a:normAutofit/>
          </a:bodyPr>
          <a:lstStyle/>
          <a:p>
            <a:pPr algn="ctr"/>
            <a:r>
              <a:rPr lang="en-US" sz="3200" b="1" dirty="0">
                <a:latin typeface="Times New Roman" panose="02020603050405020304" pitchFamily="18" charset="0"/>
                <a:cs typeface="Times New Roman" panose="02020603050405020304" pitchFamily="18" charset="0"/>
              </a:rPr>
              <a:t>NEWTON-RAPHSON METHOD</a:t>
            </a:r>
            <a:endParaRPr lang="en-IN" sz="3200" dirty="0"/>
          </a:p>
        </p:txBody>
      </p:sp>
      <p:sp>
        <p:nvSpPr>
          <p:cNvPr id="3" name="Slide Number Placeholder 2">
            <a:extLst>
              <a:ext uri="{FF2B5EF4-FFF2-40B4-BE49-F238E27FC236}">
                <a16:creationId xmlns:a16="http://schemas.microsoft.com/office/drawing/2014/main" id="{60F01928-1D4D-15E1-6F98-65704AE6B320}"/>
              </a:ext>
            </a:extLst>
          </p:cNvPr>
          <p:cNvSpPr>
            <a:spLocks noGrp="1"/>
          </p:cNvSpPr>
          <p:nvPr>
            <p:ph type="sldNum" sz="quarter" idx="12"/>
          </p:nvPr>
        </p:nvSpPr>
        <p:spPr/>
        <p:txBody>
          <a:bodyPr/>
          <a:lstStyle/>
          <a:p>
            <a:r>
              <a:rPr lang="en-IN" b="1" dirty="0">
                <a:solidFill>
                  <a:schemeClr val="tx1"/>
                </a:solidFill>
                <a:latin typeface="Arial Black" panose="020B0A04020102020204" pitchFamily="34" charset="0"/>
              </a:rPr>
              <a:t>09</a:t>
            </a:r>
          </a:p>
        </p:txBody>
      </p:sp>
      <p:sp>
        <p:nvSpPr>
          <p:cNvPr id="4" name="Rectangle 3">
            <a:extLst>
              <a:ext uri="{FF2B5EF4-FFF2-40B4-BE49-F238E27FC236}">
                <a16:creationId xmlns:a16="http://schemas.microsoft.com/office/drawing/2014/main" id="{539B516D-A149-1CED-BD87-561A776E271B}"/>
              </a:ext>
            </a:extLst>
          </p:cNvPr>
          <p:cNvSpPr/>
          <p:nvPr/>
        </p:nvSpPr>
        <p:spPr>
          <a:xfrm>
            <a:off x="1828800" y="1367606"/>
            <a:ext cx="2889504" cy="4015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Read Bus data &amp; Line data</a:t>
            </a:r>
          </a:p>
        </p:txBody>
      </p:sp>
      <p:sp>
        <p:nvSpPr>
          <p:cNvPr id="6" name="Rectangle 5">
            <a:extLst>
              <a:ext uri="{FF2B5EF4-FFF2-40B4-BE49-F238E27FC236}">
                <a16:creationId xmlns:a16="http://schemas.microsoft.com/office/drawing/2014/main" id="{8AA1CA3D-7103-763D-F0A6-40DD9E010680}"/>
              </a:ext>
            </a:extLst>
          </p:cNvPr>
          <p:cNvSpPr/>
          <p:nvPr/>
        </p:nvSpPr>
        <p:spPr>
          <a:xfrm>
            <a:off x="1828798" y="1938422"/>
            <a:ext cx="2889504" cy="4015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Form Y-Bus Matrix</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76BACE2-93AF-162D-C901-1EFA3CE5E088}"/>
                  </a:ext>
                </a:extLst>
              </p:cNvPr>
              <p:cNvSpPr/>
              <p:nvPr/>
            </p:nvSpPr>
            <p:spPr>
              <a:xfrm>
                <a:off x="1858437" y="2555418"/>
                <a:ext cx="2889504" cy="4015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Initialize V, </a:t>
                </a:r>
                <a14:m>
                  <m:oMath xmlns:m="http://schemas.openxmlformats.org/officeDocument/2006/math">
                    <m:r>
                      <a:rPr lang="en-IN" i="1" smtClean="0">
                        <a:latin typeface="Cambria Math" panose="02040503050406030204" pitchFamily="18" charset="0"/>
                        <a:ea typeface="Cambria Math" panose="02040503050406030204" pitchFamily="18" charset="0"/>
                      </a:rPr>
                      <m:t>𝛿</m:t>
                    </m:r>
                  </m:oMath>
                </a14:m>
                <a:endParaRPr lang="en-IN" dirty="0"/>
              </a:p>
            </p:txBody>
          </p:sp>
        </mc:Choice>
        <mc:Fallback xmlns="">
          <p:sp>
            <p:nvSpPr>
              <p:cNvPr id="8" name="Rectangle 7">
                <a:extLst>
                  <a:ext uri="{FF2B5EF4-FFF2-40B4-BE49-F238E27FC236}">
                    <a16:creationId xmlns:a16="http://schemas.microsoft.com/office/drawing/2014/main" id="{976BACE2-93AF-162D-C901-1EFA3CE5E088}"/>
                  </a:ext>
                </a:extLst>
              </p:cNvPr>
              <p:cNvSpPr>
                <a:spLocks noRot="1" noChangeAspect="1" noMove="1" noResize="1" noEditPoints="1" noAdjustHandles="1" noChangeArrowheads="1" noChangeShapeType="1" noTextEdit="1"/>
              </p:cNvSpPr>
              <p:nvPr/>
            </p:nvSpPr>
            <p:spPr>
              <a:xfrm>
                <a:off x="1858437" y="2555418"/>
                <a:ext cx="2889504" cy="401511"/>
              </a:xfrm>
              <a:prstGeom prst="rect">
                <a:avLst/>
              </a:prstGeom>
              <a:blipFill>
                <a:blip r:embed="rId2"/>
                <a:stretch>
                  <a:fillRect t="-1471" b="-176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B7F77DEA-C4F2-B85B-5645-4C5EA2333616}"/>
                  </a:ext>
                </a:extLst>
              </p:cNvPr>
              <p:cNvSpPr/>
              <p:nvPr/>
            </p:nvSpPr>
            <p:spPr>
              <a:xfrm>
                <a:off x="1858437" y="5080233"/>
                <a:ext cx="3067330" cy="50993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t>Solve </a:t>
                </a:r>
                <a14:m>
                  <m:oMath xmlns:m="http://schemas.openxmlformats.org/officeDocument/2006/math">
                    <m:d>
                      <m:dPr>
                        <m:begChr m:val="["/>
                        <m:endChr m:val="]"/>
                        <m:ctrlPr>
                          <a:rPr lang="en-IN" sz="1600" b="0" i="1" smtClean="0">
                            <a:latin typeface="Cambria Math" panose="02040503050406030204" pitchFamily="18" charset="0"/>
                          </a:rPr>
                        </m:ctrlPr>
                      </m:dPr>
                      <m:e>
                        <m:m>
                          <m:mPr>
                            <m:mcs>
                              <m:mc>
                                <m:mcPr>
                                  <m:count m:val="1"/>
                                  <m:mcJc m:val="center"/>
                                </m:mcPr>
                              </m:mc>
                            </m:mcs>
                            <m:ctrlPr>
                              <a:rPr lang="en-IN" sz="1600" b="0" i="1" smtClean="0">
                                <a:latin typeface="Cambria Math" panose="02040503050406030204" pitchFamily="18" charset="0"/>
                              </a:rPr>
                            </m:ctrlPr>
                          </m:mPr>
                          <m:mr>
                            <m:e>
                              <m:r>
                                <m:rPr>
                                  <m:brk m:alnAt="7"/>
                                </m:rPr>
                                <a:rPr lang="en-IN" sz="1600" b="0" i="1" smtClean="0">
                                  <a:latin typeface="Cambria Math" panose="02040503050406030204" pitchFamily="18" charset="0"/>
                                  <a:ea typeface="Cambria Math" panose="02040503050406030204" pitchFamily="18" charset="0"/>
                                </a:rPr>
                                <m:t>∆</m:t>
                              </m:r>
                              <m:r>
                                <a:rPr lang="en-IN" sz="1600" b="0" i="1" smtClean="0">
                                  <a:latin typeface="Cambria Math" panose="02040503050406030204" pitchFamily="18" charset="0"/>
                                  <a:ea typeface="Cambria Math" panose="02040503050406030204" pitchFamily="18" charset="0"/>
                                </a:rPr>
                                <m:t>𝛿</m:t>
                              </m:r>
                            </m:e>
                          </m:mr>
                          <m:mr>
                            <m:e>
                              <m:r>
                                <a:rPr lang="en-IN" sz="1600" b="0" i="1" smtClean="0">
                                  <a:latin typeface="Cambria Math" panose="02040503050406030204" pitchFamily="18" charset="0"/>
                                  <a:ea typeface="Cambria Math" panose="02040503050406030204" pitchFamily="18" charset="0"/>
                                </a:rPr>
                                <m:t>∆</m:t>
                              </m:r>
                              <m:r>
                                <a:rPr lang="en-IN" sz="1600" b="0" i="1" smtClean="0">
                                  <a:latin typeface="Cambria Math" panose="02040503050406030204" pitchFamily="18" charset="0"/>
                                  <a:ea typeface="Cambria Math" panose="02040503050406030204" pitchFamily="18" charset="0"/>
                                </a:rPr>
                                <m:t>𝑉</m:t>
                              </m:r>
                            </m:e>
                          </m:mr>
                        </m:m>
                      </m:e>
                    </m:d>
                    <m:r>
                      <a:rPr lang="en-IN" sz="1600" b="0" i="1" smtClean="0">
                        <a:latin typeface="Cambria Math" panose="02040503050406030204" pitchFamily="18" charset="0"/>
                      </a:rPr>
                      <m:t>=</m:t>
                    </m:r>
                    <m:sSup>
                      <m:sSupPr>
                        <m:ctrlPr>
                          <a:rPr lang="en-IN" sz="1600" b="0" i="1" smtClean="0">
                            <a:latin typeface="Cambria Math" panose="02040503050406030204" pitchFamily="18" charset="0"/>
                          </a:rPr>
                        </m:ctrlPr>
                      </m:sSupPr>
                      <m:e>
                        <m:r>
                          <a:rPr lang="en-IN" sz="1600" b="0" i="1" smtClean="0">
                            <a:latin typeface="Cambria Math" panose="02040503050406030204" pitchFamily="18" charset="0"/>
                          </a:rPr>
                          <m:t>𝐽</m:t>
                        </m:r>
                      </m:e>
                      <m:sup>
                        <m:r>
                          <a:rPr lang="en-IN" sz="1600" b="0" i="1" smtClean="0">
                            <a:latin typeface="Cambria Math" panose="02040503050406030204" pitchFamily="18" charset="0"/>
                          </a:rPr>
                          <m:t>−1</m:t>
                        </m:r>
                      </m:sup>
                    </m:sSup>
                    <m:r>
                      <a:rPr lang="en-IN" sz="1600" b="0" i="1" smtClean="0">
                        <a:latin typeface="Cambria Math" panose="02040503050406030204" pitchFamily="18" charset="0"/>
                      </a:rPr>
                      <m:t>[</m:t>
                    </m:r>
                    <m:m>
                      <m:mPr>
                        <m:mcs>
                          <m:mc>
                            <m:mcPr>
                              <m:count m:val="1"/>
                              <m:mcJc m:val="center"/>
                            </m:mcPr>
                          </m:mc>
                        </m:mcs>
                        <m:ctrlPr>
                          <a:rPr lang="en-IN" sz="1600" b="0" i="1" smtClean="0">
                            <a:latin typeface="Cambria Math" panose="02040503050406030204" pitchFamily="18" charset="0"/>
                          </a:rPr>
                        </m:ctrlPr>
                      </m:mPr>
                      <m:mr>
                        <m:e>
                          <m:r>
                            <m:rPr>
                              <m:brk m:alnAt="7"/>
                            </m:rPr>
                            <a:rPr lang="en-IN" sz="1600" b="0" i="1" smtClean="0">
                              <a:latin typeface="Cambria Math" panose="02040503050406030204" pitchFamily="18" charset="0"/>
                              <a:ea typeface="Cambria Math" panose="02040503050406030204" pitchFamily="18" charset="0"/>
                            </a:rPr>
                            <m:t>∆</m:t>
                          </m:r>
                          <m:r>
                            <a:rPr lang="en-IN" sz="1600" b="0" i="1" smtClean="0">
                              <a:latin typeface="Cambria Math" panose="02040503050406030204" pitchFamily="18" charset="0"/>
                              <a:ea typeface="Cambria Math" panose="02040503050406030204" pitchFamily="18" charset="0"/>
                            </a:rPr>
                            <m:t>𝑃</m:t>
                          </m:r>
                        </m:e>
                      </m:mr>
                      <m:mr>
                        <m:e>
                          <m:r>
                            <a:rPr lang="en-IN" sz="1600" b="0" i="1" smtClean="0">
                              <a:latin typeface="Cambria Math" panose="02040503050406030204" pitchFamily="18" charset="0"/>
                              <a:ea typeface="Cambria Math" panose="02040503050406030204" pitchFamily="18" charset="0"/>
                            </a:rPr>
                            <m:t>∆</m:t>
                          </m:r>
                          <m:r>
                            <a:rPr lang="en-IN" sz="1600" b="0" i="1" smtClean="0">
                              <a:latin typeface="Cambria Math" panose="02040503050406030204" pitchFamily="18" charset="0"/>
                              <a:ea typeface="Cambria Math" panose="02040503050406030204" pitchFamily="18" charset="0"/>
                            </a:rPr>
                            <m:t>𝑄</m:t>
                          </m:r>
                        </m:e>
                      </m:mr>
                    </m:m>
                    <m:r>
                      <a:rPr lang="en-IN" sz="1600" b="0" i="1" smtClean="0">
                        <a:latin typeface="Cambria Math" panose="02040503050406030204" pitchFamily="18" charset="0"/>
                      </a:rPr>
                      <m:t>]</m:t>
                    </m:r>
                  </m:oMath>
                </a14:m>
                <a:endParaRPr lang="en-IN" sz="1600" dirty="0"/>
              </a:p>
            </p:txBody>
          </p:sp>
        </mc:Choice>
        <mc:Fallback xmlns="">
          <p:sp>
            <p:nvSpPr>
              <p:cNvPr id="9" name="Rectangle 8">
                <a:extLst>
                  <a:ext uri="{FF2B5EF4-FFF2-40B4-BE49-F238E27FC236}">
                    <a16:creationId xmlns:a16="http://schemas.microsoft.com/office/drawing/2014/main" id="{B7F77DEA-C4F2-B85B-5645-4C5EA2333616}"/>
                  </a:ext>
                </a:extLst>
              </p:cNvPr>
              <p:cNvSpPr>
                <a:spLocks noRot="1" noChangeAspect="1" noMove="1" noResize="1" noEditPoints="1" noAdjustHandles="1" noChangeArrowheads="1" noChangeShapeType="1" noTextEdit="1"/>
              </p:cNvSpPr>
              <p:nvPr/>
            </p:nvSpPr>
            <p:spPr>
              <a:xfrm>
                <a:off x="1858437" y="5080233"/>
                <a:ext cx="3067330" cy="509935"/>
              </a:xfrm>
              <a:prstGeom prst="rect">
                <a:avLst/>
              </a:prstGeom>
              <a:blipFill>
                <a:blip r:embed="rId3"/>
                <a:stretch>
                  <a:fillRect b="-8140"/>
                </a:stretch>
              </a:blipFill>
            </p:spPr>
            <p:txBody>
              <a:bodyPr/>
              <a:lstStyle/>
              <a:p>
                <a:r>
                  <a:rPr lang="en-IN">
                    <a:noFill/>
                  </a:rPr>
                  <a:t> </a:t>
                </a:r>
              </a:p>
            </p:txBody>
          </p:sp>
        </mc:Fallback>
      </mc:AlternateContent>
      <p:sp>
        <p:nvSpPr>
          <p:cNvPr id="10" name="Rectangle 9">
            <a:extLst>
              <a:ext uri="{FF2B5EF4-FFF2-40B4-BE49-F238E27FC236}">
                <a16:creationId xmlns:a16="http://schemas.microsoft.com/office/drawing/2014/main" id="{EB461EE1-1202-089D-D66F-8AAAE196CF04}"/>
              </a:ext>
            </a:extLst>
          </p:cNvPr>
          <p:cNvSpPr/>
          <p:nvPr/>
        </p:nvSpPr>
        <p:spPr>
          <a:xfrm>
            <a:off x="1858437" y="4439107"/>
            <a:ext cx="3008055" cy="4015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Form Jacobian Matrix</a:t>
            </a:r>
          </a:p>
        </p:txBody>
      </p:sp>
      <mc:AlternateContent xmlns:mc="http://schemas.openxmlformats.org/markup-compatibility/2006" xmlns:a14="http://schemas.microsoft.com/office/drawing/2010/main">
        <mc:Choice Requires="a14">
          <p:sp>
            <p:nvSpPr>
              <p:cNvPr id="12" name="Diamond 11">
                <a:extLst>
                  <a:ext uri="{FF2B5EF4-FFF2-40B4-BE49-F238E27FC236}">
                    <a16:creationId xmlns:a16="http://schemas.microsoft.com/office/drawing/2014/main" id="{BABE25C1-8841-9D63-7A90-A2B3AD06F482}"/>
                  </a:ext>
                </a:extLst>
              </p:cNvPr>
              <p:cNvSpPr/>
              <p:nvPr/>
            </p:nvSpPr>
            <p:spPr>
              <a:xfrm>
                <a:off x="6944508" y="905314"/>
                <a:ext cx="3037692" cy="91440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t>Max Error </a:t>
                </a:r>
                <a14:m>
                  <m:oMath xmlns:m="http://schemas.openxmlformats.org/officeDocument/2006/math">
                    <m:r>
                      <a:rPr lang="en-IN" sz="1600" i="1" smtClean="0">
                        <a:latin typeface="Cambria Math" panose="02040503050406030204" pitchFamily="18" charset="0"/>
                        <a:ea typeface="Cambria Math" panose="02040503050406030204" pitchFamily="18" charset="0"/>
                      </a:rPr>
                      <m:t>&lt;</m:t>
                    </m:r>
                    <m:r>
                      <a:rPr lang="en-IN" sz="1600" i="1" smtClean="0">
                        <a:latin typeface="Cambria Math" panose="02040503050406030204" pitchFamily="18" charset="0"/>
                        <a:ea typeface="Cambria Math" panose="02040503050406030204" pitchFamily="18" charset="0"/>
                      </a:rPr>
                      <m:t>𝜀</m:t>
                    </m:r>
                  </m:oMath>
                </a14:m>
                <a:r>
                  <a:rPr lang="en-IN" sz="1600" dirty="0"/>
                  <a:t> ?</a:t>
                </a:r>
              </a:p>
            </p:txBody>
          </p:sp>
        </mc:Choice>
        <mc:Fallback xmlns="">
          <p:sp>
            <p:nvSpPr>
              <p:cNvPr id="12" name="Diamond 11">
                <a:extLst>
                  <a:ext uri="{FF2B5EF4-FFF2-40B4-BE49-F238E27FC236}">
                    <a16:creationId xmlns:a16="http://schemas.microsoft.com/office/drawing/2014/main" id="{BABE25C1-8841-9D63-7A90-A2B3AD06F482}"/>
                  </a:ext>
                </a:extLst>
              </p:cNvPr>
              <p:cNvSpPr>
                <a:spLocks noRot="1" noChangeAspect="1" noMove="1" noResize="1" noEditPoints="1" noAdjustHandles="1" noChangeArrowheads="1" noChangeShapeType="1" noTextEdit="1"/>
              </p:cNvSpPr>
              <p:nvPr/>
            </p:nvSpPr>
            <p:spPr>
              <a:xfrm>
                <a:off x="6944508" y="905314"/>
                <a:ext cx="3037692" cy="914400"/>
              </a:xfrm>
              <a:prstGeom prst="diamond">
                <a:avLst/>
              </a:prstGeom>
              <a:blipFill>
                <a:blip r:embed="rId4"/>
                <a:stretch>
                  <a:fillRect/>
                </a:stretch>
              </a:blipFill>
            </p:spPr>
            <p:txBody>
              <a:bodyPr/>
              <a:lstStyle/>
              <a:p>
                <a:r>
                  <a:rPr lang="en-IN">
                    <a:noFill/>
                  </a:rPr>
                  <a:t> </a:t>
                </a:r>
              </a:p>
            </p:txBody>
          </p:sp>
        </mc:Fallback>
      </mc:AlternateContent>
      <p:sp>
        <p:nvSpPr>
          <p:cNvPr id="13" name="Rectangle 12">
            <a:extLst>
              <a:ext uri="{FF2B5EF4-FFF2-40B4-BE49-F238E27FC236}">
                <a16:creationId xmlns:a16="http://schemas.microsoft.com/office/drawing/2014/main" id="{F1B21ACC-3DD3-F702-3B62-EBE8CB1EEBD0}"/>
              </a:ext>
            </a:extLst>
          </p:cNvPr>
          <p:cNvSpPr/>
          <p:nvPr/>
        </p:nvSpPr>
        <p:spPr>
          <a:xfrm>
            <a:off x="7018602" y="2239735"/>
            <a:ext cx="2889504" cy="4015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Print Results</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5431CB02-71F9-5EEC-FB5D-272873DAA39A}"/>
                  </a:ext>
                </a:extLst>
              </p:cNvPr>
              <p:cNvSpPr/>
              <p:nvPr/>
            </p:nvSpPr>
            <p:spPr>
              <a:xfrm>
                <a:off x="1765054" y="5867626"/>
                <a:ext cx="3194820" cy="42899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Update V, </a:t>
                </a:r>
                <a14:m>
                  <m:oMath xmlns:m="http://schemas.openxmlformats.org/officeDocument/2006/math">
                    <m:r>
                      <a:rPr lang="en-IN" i="1" smtClean="0">
                        <a:latin typeface="Cambria Math" panose="02040503050406030204" pitchFamily="18" charset="0"/>
                        <a:ea typeface="Cambria Math" panose="02040503050406030204" pitchFamily="18" charset="0"/>
                      </a:rPr>
                      <m:t>𝛿</m:t>
                    </m:r>
                  </m:oMath>
                </a14:m>
                <a:endParaRPr lang="en-IN" dirty="0"/>
              </a:p>
            </p:txBody>
          </p:sp>
        </mc:Choice>
        <mc:Fallback xmlns="">
          <p:sp>
            <p:nvSpPr>
              <p:cNvPr id="14" name="Rectangle 13">
                <a:extLst>
                  <a:ext uri="{FF2B5EF4-FFF2-40B4-BE49-F238E27FC236}">
                    <a16:creationId xmlns:a16="http://schemas.microsoft.com/office/drawing/2014/main" id="{5431CB02-71F9-5EEC-FB5D-272873DAA39A}"/>
                  </a:ext>
                </a:extLst>
              </p:cNvPr>
              <p:cNvSpPr>
                <a:spLocks noRot="1" noChangeAspect="1" noMove="1" noResize="1" noEditPoints="1" noAdjustHandles="1" noChangeArrowheads="1" noChangeShapeType="1" noTextEdit="1"/>
              </p:cNvSpPr>
              <p:nvPr/>
            </p:nvSpPr>
            <p:spPr>
              <a:xfrm>
                <a:off x="1765054" y="5867626"/>
                <a:ext cx="3194820" cy="428998"/>
              </a:xfrm>
              <a:prstGeom prst="rect">
                <a:avLst/>
              </a:prstGeom>
              <a:blipFill>
                <a:blip r:embed="rId5"/>
                <a:stretch>
                  <a:fillRect b="-13889"/>
                </a:stretch>
              </a:blipFill>
            </p:spPr>
            <p:txBody>
              <a:bodyPr/>
              <a:lstStyle/>
              <a:p>
                <a:r>
                  <a:rPr lang="en-IN">
                    <a:noFill/>
                  </a:rPr>
                  <a:t> </a:t>
                </a:r>
              </a:p>
            </p:txBody>
          </p:sp>
        </mc:Fallback>
      </mc:AlternateContent>
      <p:sp>
        <p:nvSpPr>
          <p:cNvPr id="15" name="Rectangle 14">
            <a:extLst>
              <a:ext uri="{FF2B5EF4-FFF2-40B4-BE49-F238E27FC236}">
                <a16:creationId xmlns:a16="http://schemas.microsoft.com/office/drawing/2014/main" id="{BBC53AB2-3B6D-B580-8999-9E0BE2D39009}"/>
              </a:ext>
            </a:extLst>
          </p:cNvPr>
          <p:cNvSpPr/>
          <p:nvPr/>
        </p:nvSpPr>
        <p:spPr>
          <a:xfrm>
            <a:off x="6944508" y="2918759"/>
            <a:ext cx="3037692" cy="59661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Calculate Line  Flows &amp;Losses</a:t>
            </a:r>
          </a:p>
        </p:txBody>
      </p:sp>
      <p:sp>
        <p:nvSpPr>
          <p:cNvPr id="16" name="Flowchart: Terminator 15">
            <a:extLst>
              <a:ext uri="{FF2B5EF4-FFF2-40B4-BE49-F238E27FC236}">
                <a16:creationId xmlns:a16="http://schemas.microsoft.com/office/drawing/2014/main" id="{A7354AF9-246F-A616-06D1-DD84576EE5F2}"/>
              </a:ext>
            </a:extLst>
          </p:cNvPr>
          <p:cNvSpPr/>
          <p:nvPr/>
        </p:nvSpPr>
        <p:spPr>
          <a:xfrm>
            <a:off x="7628291" y="3740542"/>
            <a:ext cx="1520952" cy="507302"/>
          </a:xfrm>
          <a:prstGeom prst="flowChartTermina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End</a:t>
            </a:r>
          </a:p>
        </p:txBody>
      </p:sp>
      <p:sp>
        <p:nvSpPr>
          <p:cNvPr id="18" name="Flowchart: Terminator 17">
            <a:extLst>
              <a:ext uri="{FF2B5EF4-FFF2-40B4-BE49-F238E27FC236}">
                <a16:creationId xmlns:a16="http://schemas.microsoft.com/office/drawing/2014/main" id="{D3152DD1-5571-25D8-6EC0-4ABF5900293D}"/>
              </a:ext>
            </a:extLst>
          </p:cNvPr>
          <p:cNvSpPr/>
          <p:nvPr/>
        </p:nvSpPr>
        <p:spPr>
          <a:xfrm>
            <a:off x="2453798" y="633537"/>
            <a:ext cx="1520952" cy="507302"/>
          </a:xfrm>
          <a:prstGeom prst="flowChartTermina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Start</a:t>
            </a:r>
          </a:p>
        </p:txBody>
      </p:sp>
      <p:cxnSp>
        <p:nvCxnSpPr>
          <p:cNvPr id="20" name="Straight Arrow Connector 19">
            <a:extLst>
              <a:ext uri="{FF2B5EF4-FFF2-40B4-BE49-F238E27FC236}">
                <a16:creationId xmlns:a16="http://schemas.microsoft.com/office/drawing/2014/main" id="{32E74910-31FD-0F8F-EA51-579EBE1DC39A}"/>
              </a:ext>
            </a:extLst>
          </p:cNvPr>
          <p:cNvCxnSpPr>
            <a:cxnSpLocks/>
          </p:cNvCxnSpPr>
          <p:nvPr/>
        </p:nvCxnSpPr>
        <p:spPr>
          <a:xfrm>
            <a:off x="3273551" y="1154240"/>
            <a:ext cx="0" cy="1948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16AC9267-8E5B-E6BB-BDC9-34709FBFCC20}"/>
              </a:ext>
            </a:extLst>
          </p:cNvPr>
          <p:cNvCxnSpPr>
            <a:cxnSpLocks/>
          </p:cNvCxnSpPr>
          <p:nvPr/>
        </p:nvCxnSpPr>
        <p:spPr>
          <a:xfrm>
            <a:off x="3273551" y="1769117"/>
            <a:ext cx="0" cy="1948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393F833B-A4AA-57E0-3918-5D546CCDDEB7}"/>
              </a:ext>
            </a:extLst>
          </p:cNvPr>
          <p:cNvCxnSpPr>
            <a:cxnSpLocks/>
          </p:cNvCxnSpPr>
          <p:nvPr/>
        </p:nvCxnSpPr>
        <p:spPr>
          <a:xfrm>
            <a:off x="3273550" y="2339933"/>
            <a:ext cx="0" cy="1948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F804F21F-160E-5BDF-73DB-9F8C2D962AED}"/>
              </a:ext>
            </a:extLst>
          </p:cNvPr>
          <p:cNvCxnSpPr>
            <a:cxnSpLocks/>
          </p:cNvCxnSpPr>
          <p:nvPr/>
        </p:nvCxnSpPr>
        <p:spPr>
          <a:xfrm>
            <a:off x="3268293" y="2974241"/>
            <a:ext cx="5257" cy="19817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 name="Straight Arrow Connector 28">
            <a:extLst>
              <a:ext uri="{FF2B5EF4-FFF2-40B4-BE49-F238E27FC236}">
                <a16:creationId xmlns:a16="http://schemas.microsoft.com/office/drawing/2014/main" id="{0FE27C3C-8B5D-EEC5-F0AF-4BC15A83898E}"/>
              </a:ext>
            </a:extLst>
          </p:cNvPr>
          <p:cNvCxnSpPr>
            <a:cxnSpLocks/>
          </p:cNvCxnSpPr>
          <p:nvPr/>
        </p:nvCxnSpPr>
        <p:spPr>
          <a:xfrm>
            <a:off x="3268293" y="3643107"/>
            <a:ext cx="0" cy="1948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A1331E3B-94B5-BFC9-6200-880D8E266A00}"/>
              </a:ext>
            </a:extLst>
          </p:cNvPr>
          <p:cNvCxnSpPr>
            <a:cxnSpLocks/>
          </p:cNvCxnSpPr>
          <p:nvPr/>
        </p:nvCxnSpPr>
        <p:spPr>
          <a:xfrm>
            <a:off x="3268293" y="4256988"/>
            <a:ext cx="0" cy="1948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id="{4B0D6BB0-8ED6-C8C3-8715-125374458A3C}"/>
              </a:ext>
            </a:extLst>
          </p:cNvPr>
          <p:cNvCxnSpPr>
            <a:cxnSpLocks/>
          </p:cNvCxnSpPr>
          <p:nvPr/>
        </p:nvCxnSpPr>
        <p:spPr>
          <a:xfrm>
            <a:off x="3303189" y="4843468"/>
            <a:ext cx="0" cy="1948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2" name="Straight Arrow Connector 31">
            <a:extLst>
              <a:ext uri="{FF2B5EF4-FFF2-40B4-BE49-F238E27FC236}">
                <a16:creationId xmlns:a16="http://schemas.microsoft.com/office/drawing/2014/main" id="{736BC6C8-7533-59EF-19A1-451C4540EDB0}"/>
              </a:ext>
            </a:extLst>
          </p:cNvPr>
          <p:cNvCxnSpPr>
            <a:cxnSpLocks/>
            <a:stCxn id="12" idx="2"/>
            <a:endCxn id="13" idx="0"/>
          </p:cNvCxnSpPr>
          <p:nvPr/>
        </p:nvCxnSpPr>
        <p:spPr>
          <a:xfrm>
            <a:off x="8463354" y="1819714"/>
            <a:ext cx="0" cy="42002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id="{1F14163C-2BCF-16DD-EEAF-12E5F5001F2F}"/>
              </a:ext>
            </a:extLst>
          </p:cNvPr>
          <p:cNvCxnSpPr>
            <a:cxnSpLocks/>
          </p:cNvCxnSpPr>
          <p:nvPr/>
        </p:nvCxnSpPr>
        <p:spPr>
          <a:xfrm>
            <a:off x="8398857" y="2642630"/>
            <a:ext cx="0" cy="27612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id="{00AE3169-91BD-7BF9-94F8-46F0B4DCF0C4}"/>
              </a:ext>
            </a:extLst>
          </p:cNvPr>
          <p:cNvCxnSpPr>
            <a:cxnSpLocks/>
          </p:cNvCxnSpPr>
          <p:nvPr/>
        </p:nvCxnSpPr>
        <p:spPr>
          <a:xfrm>
            <a:off x="8391918" y="3516758"/>
            <a:ext cx="0" cy="1948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5" name="TextBox 64">
            <a:extLst>
              <a:ext uri="{FF2B5EF4-FFF2-40B4-BE49-F238E27FC236}">
                <a16:creationId xmlns:a16="http://schemas.microsoft.com/office/drawing/2014/main" id="{D4A10DE6-D212-54AB-A7AC-09706D1FB839}"/>
              </a:ext>
            </a:extLst>
          </p:cNvPr>
          <p:cNvSpPr txBox="1"/>
          <p:nvPr/>
        </p:nvSpPr>
        <p:spPr>
          <a:xfrm>
            <a:off x="8566298" y="1810696"/>
            <a:ext cx="619432" cy="369332"/>
          </a:xfrm>
          <a:prstGeom prst="rect">
            <a:avLst/>
          </a:prstGeom>
          <a:noFill/>
        </p:spPr>
        <p:txBody>
          <a:bodyPr wrap="square" rtlCol="0">
            <a:spAutoFit/>
          </a:bodyPr>
          <a:lstStyle/>
          <a:p>
            <a:r>
              <a:rPr lang="en-IN" dirty="0"/>
              <a:t>Yes</a:t>
            </a:r>
          </a:p>
        </p:txBody>
      </p:sp>
      <p:cxnSp>
        <p:nvCxnSpPr>
          <p:cNvPr id="66" name="Connector: Elbow 65">
            <a:extLst>
              <a:ext uri="{FF2B5EF4-FFF2-40B4-BE49-F238E27FC236}">
                <a16:creationId xmlns:a16="http://schemas.microsoft.com/office/drawing/2014/main" id="{71379513-0474-E3E5-97B9-901B759AE1EA}"/>
              </a:ext>
            </a:extLst>
          </p:cNvPr>
          <p:cNvCxnSpPr>
            <a:cxnSpLocks/>
            <a:stCxn id="12" idx="1"/>
            <a:endCxn id="17" idx="3"/>
          </p:cNvCxnSpPr>
          <p:nvPr/>
        </p:nvCxnSpPr>
        <p:spPr>
          <a:xfrm rot="10800000" flipV="1">
            <a:off x="4836210" y="1362513"/>
            <a:ext cx="2108299" cy="2037181"/>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sp>
        <p:nvSpPr>
          <p:cNvPr id="74" name="TextBox 73">
            <a:extLst>
              <a:ext uri="{FF2B5EF4-FFF2-40B4-BE49-F238E27FC236}">
                <a16:creationId xmlns:a16="http://schemas.microsoft.com/office/drawing/2014/main" id="{25A53F99-E89F-3366-7BEC-72270A4F8227}"/>
              </a:ext>
            </a:extLst>
          </p:cNvPr>
          <p:cNvSpPr txBox="1"/>
          <p:nvPr/>
        </p:nvSpPr>
        <p:spPr>
          <a:xfrm>
            <a:off x="5895684" y="2139177"/>
            <a:ext cx="534740" cy="369332"/>
          </a:xfrm>
          <a:prstGeom prst="rect">
            <a:avLst/>
          </a:prstGeom>
          <a:noFill/>
        </p:spPr>
        <p:txBody>
          <a:bodyPr wrap="square" rtlCol="0">
            <a:spAutoFit/>
          </a:bodyPr>
          <a:lstStyle/>
          <a:p>
            <a:r>
              <a:rPr lang="en-IN" dirty="0"/>
              <a:t>No</a:t>
            </a:r>
          </a:p>
        </p:txBody>
      </p:sp>
      <p:sp>
        <p:nvSpPr>
          <p:cNvPr id="75" name="TextBox 74">
            <a:extLst>
              <a:ext uri="{FF2B5EF4-FFF2-40B4-BE49-F238E27FC236}">
                <a16:creationId xmlns:a16="http://schemas.microsoft.com/office/drawing/2014/main" id="{E6D26E50-5789-1239-ED5B-8C5C6DBF5F14}"/>
              </a:ext>
            </a:extLst>
          </p:cNvPr>
          <p:cNvSpPr txBox="1"/>
          <p:nvPr/>
        </p:nvSpPr>
        <p:spPr>
          <a:xfrm>
            <a:off x="3721097" y="6445934"/>
            <a:ext cx="4670821" cy="369332"/>
          </a:xfrm>
          <a:prstGeom prst="rect">
            <a:avLst/>
          </a:prstGeom>
          <a:noFill/>
        </p:spPr>
        <p:txBody>
          <a:bodyPr wrap="square" rtlCol="0">
            <a:spAutoFit/>
          </a:bodyPr>
          <a:lstStyle/>
          <a:p>
            <a:r>
              <a:rPr lang="en-IN" dirty="0"/>
              <a:t>Fig 2: Flowchart of Newton-Raphson Method</a:t>
            </a:r>
          </a:p>
        </p:txBody>
      </p:sp>
      <p:sp>
        <p:nvSpPr>
          <p:cNvPr id="17" name="Rectangle 16">
            <a:extLst>
              <a:ext uri="{FF2B5EF4-FFF2-40B4-BE49-F238E27FC236}">
                <a16:creationId xmlns:a16="http://schemas.microsoft.com/office/drawing/2014/main" id="{CD60A8CF-E331-F76D-6B20-010FE100894D}"/>
              </a:ext>
            </a:extLst>
          </p:cNvPr>
          <p:cNvSpPr/>
          <p:nvPr/>
        </p:nvSpPr>
        <p:spPr>
          <a:xfrm>
            <a:off x="1828154" y="3185196"/>
            <a:ext cx="3008055" cy="42899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Calculate P, Q</a:t>
            </a:r>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4B315D33-A2D7-AB64-2052-1ADADF00755D}"/>
                  </a:ext>
                </a:extLst>
              </p:cNvPr>
              <p:cNvSpPr/>
              <p:nvPr/>
            </p:nvSpPr>
            <p:spPr>
              <a:xfrm>
                <a:off x="1858437" y="3855477"/>
                <a:ext cx="3008055" cy="4015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Compute Mismatch </a:t>
                </a:r>
                <a14:m>
                  <m:oMath xmlns:m="http://schemas.openxmlformats.org/officeDocument/2006/math">
                    <m:r>
                      <a:rPr lang="en-IN"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𝑃</m:t>
                    </m:r>
                    <m:r>
                      <a:rPr lang="en-IN"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𝑄</m:t>
                    </m:r>
                  </m:oMath>
                </a14:m>
                <a:endParaRPr lang="en-IN" dirty="0"/>
              </a:p>
            </p:txBody>
          </p:sp>
        </mc:Choice>
        <mc:Fallback xmlns="">
          <p:sp>
            <p:nvSpPr>
              <p:cNvPr id="37" name="Rectangle 36">
                <a:extLst>
                  <a:ext uri="{FF2B5EF4-FFF2-40B4-BE49-F238E27FC236}">
                    <a16:creationId xmlns:a16="http://schemas.microsoft.com/office/drawing/2014/main" id="{4B315D33-A2D7-AB64-2052-1ADADF00755D}"/>
                  </a:ext>
                </a:extLst>
              </p:cNvPr>
              <p:cNvSpPr>
                <a:spLocks noRot="1" noChangeAspect="1" noMove="1" noResize="1" noEditPoints="1" noAdjustHandles="1" noChangeArrowheads="1" noChangeShapeType="1" noTextEdit="1"/>
              </p:cNvSpPr>
              <p:nvPr/>
            </p:nvSpPr>
            <p:spPr>
              <a:xfrm>
                <a:off x="1858437" y="3855477"/>
                <a:ext cx="3008055" cy="401511"/>
              </a:xfrm>
              <a:prstGeom prst="rect">
                <a:avLst/>
              </a:prstGeom>
              <a:blipFill>
                <a:blip r:embed="rId6"/>
                <a:stretch>
                  <a:fillRect t="-1471" b="-17647"/>
                </a:stretch>
              </a:blipFill>
            </p:spPr>
            <p:txBody>
              <a:bodyPr/>
              <a:lstStyle/>
              <a:p>
                <a:r>
                  <a:rPr lang="en-IN">
                    <a:noFill/>
                  </a:rPr>
                  <a:t> </a:t>
                </a:r>
              </a:p>
            </p:txBody>
          </p:sp>
        </mc:Fallback>
      </mc:AlternateContent>
      <p:cxnSp>
        <p:nvCxnSpPr>
          <p:cNvPr id="40" name="Straight Arrow Connector 39">
            <a:extLst>
              <a:ext uri="{FF2B5EF4-FFF2-40B4-BE49-F238E27FC236}">
                <a16:creationId xmlns:a16="http://schemas.microsoft.com/office/drawing/2014/main" id="{5AF9B931-923F-8025-33BB-55CD02D7473C}"/>
              </a:ext>
            </a:extLst>
          </p:cNvPr>
          <p:cNvCxnSpPr>
            <a:cxnSpLocks/>
            <a:endCxn id="14" idx="0"/>
          </p:cNvCxnSpPr>
          <p:nvPr/>
        </p:nvCxnSpPr>
        <p:spPr>
          <a:xfrm>
            <a:off x="3362464" y="5612564"/>
            <a:ext cx="0" cy="25506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0" name="Connector: Elbow 59">
            <a:extLst>
              <a:ext uri="{FF2B5EF4-FFF2-40B4-BE49-F238E27FC236}">
                <a16:creationId xmlns:a16="http://schemas.microsoft.com/office/drawing/2014/main" id="{59D4AB9C-D0A3-FCB1-C38F-D4487A42B4F4}"/>
              </a:ext>
            </a:extLst>
          </p:cNvPr>
          <p:cNvCxnSpPr>
            <a:cxnSpLocks/>
            <a:stCxn id="14" idx="2"/>
            <a:endCxn id="12" idx="0"/>
          </p:cNvCxnSpPr>
          <p:nvPr/>
        </p:nvCxnSpPr>
        <p:spPr>
          <a:xfrm rot="5400000" flipH="1" flipV="1">
            <a:off x="3217254" y="1050524"/>
            <a:ext cx="5391310" cy="5100890"/>
          </a:xfrm>
          <a:prstGeom prst="bentConnector5">
            <a:avLst>
              <a:gd name="adj1" fmla="val -3124"/>
              <a:gd name="adj2" fmla="val 42514"/>
              <a:gd name="adj3" fmla="val 104240"/>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556895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107BA-5FEF-99C8-30EB-C782E6DEC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1CB4B-71FC-84BB-B554-C4BEEE263120}"/>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Particle Swarm Optimization (PSO)</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99C0E3-725A-65D1-3838-52ABC7229954}"/>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Population-based optimization technique inspired by bird flocking behavior</a:t>
            </a:r>
          </a:p>
          <a:p>
            <a:pPr algn="just"/>
            <a:r>
              <a:rPr lang="en-US" sz="2400" dirty="0">
                <a:latin typeface="Times New Roman" panose="02020603050405020304" pitchFamily="18" charset="0"/>
                <a:cs typeface="Times New Roman" panose="02020603050405020304" pitchFamily="18" charset="0"/>
              </a:rPr>
              <a:t>Used to find optimal EV reactive power allocation at buses 5, 6, and 8</a:t>
            </a:r>
          </a:p>
          <a:p>
            <a:pPr algn="just"/>
            <a:r>
              <a:rPr lang="en-US" sz="2400" dirty="0">
                <a:latin typeface="Times New Roman" panose="02020603050405020304" pitchFamily="18" charset="0"/>
                <a:cs typeface="Times New Roman" panose="02020603050405020304" pitchFamily="18" charset="0"/>
              </a:rPr>
              <a:t>Each particle represents possible reactive power values </a:t>
            </a:r>
            <a:r>
              <a:rPr lang="en-US" sz="2400" i="1" dirty="0">
                <a:latin typeface="Times New Roman" panose="02020603050405020304" pitchFamily="18" charset="0"/>
                <a:cs typeface="Times New Roman" panose="02020603050405020304" pitchFamily="18" charset="0"/>
              </a:rPr>
              <a:t>Q</a:t>
            </a:r>
            <a:r>
              <a:rPr lang="en-US" sz="2400" dirty="0">
                <a:latin typeface="Times New Roman" panose="02020603050405020304" pitchFamily="18" charset="0"/>
                <a:cs typeface="Times New Roman" panose="02020603050405020304" pitchFamily="18" charset="0"/>
              </a:rPr>
              <a:t>5, </a:t>
            </a:r>
            <a:r>
              <a:rPr lang="en-US" sz="2400" i="1" dirty="0">
                <a:latin typeface="Times New Roman" panose="02020603050405020304" pitchFamily="18" charset="0"/>
                <a:cs typeface="Times New Roman" panose="02020603050405020304" pitchFamily="18" charset="0"/>
              </a:rPr>
              <a:t>Q</a:t>
            </a:r>
            <a:r>
              <a:rPr lang="en-US" sz="2400" dirty="0">
                <a:latin typeface="Times New Roman" panose="02020603050405020304" pitchFamily="18" charset="0"/>
                <a:cs typeface="Times New Roman" panose="02020603050405020304" pitchFamily="18" charset="0"/>
              </a:rPr>
              <a:t>6, </a:t>
            </a:r>
            <a:r>
              <a:rPr lang="en-US" sz="2400" i="1" dirty="0">
                <a:latin typeface="Times New Roman" panose="02020603050405020304" pitchFamily="18" charset="0"/>
                <a:cs typeface="Times New Roman" panose="02020603050405020304" pitchFamily="18" charset="0"/>
              </a:rPr>
              <a:t>Q</a:t>
            </a:r>
            <a:r>
              <a:rPr lang="en-US" sz="2400" dirty="0">
                <a:latin typeface="Times New Roman" panose="02020603050405020304" pitchFamily="18" charset="0"/>
                <a:cs typeface="Times New Roman" panose="02020603050405020304" pitchFamily="18" charset="0"/>
              </a:rPr>
              <a:t>8</a:t>
            </a:r>
          </a:p>
          <a:p>
            <a:pPr algn="just"/>
            <a:r>
              <a:rPr lang="en-US" sz="2400" dirty="0">
                <a:latin typeface="Times New Roman" panose="02020603050405020304" pitchFamily="18" charset="0"/>
                <a:cs typeface="Times New Roman" panose="02020603050405020304" pitchFamily="18" charset="0"/>
              </a:rPr>
              <a:t>Fitness function is based on minimizing total transmission power loss</a:t>
            </a:r>
          </a:p>
          <a:p>
            <a:pPr algn="just"/>
            <a:r>
              <a:rPr lang="en-US" sz="2400" dirty="0">
                <a:latin typeface="Times New Roman" panose="02020603050405020304" pitchFamily="18" charset="0"/>
                <a:cs typeface="Times New Roman" panose="02020603050405020304" pitchFamily="18" charset="0"/>
              </a:rPr>
              <a:t>Particle position and velocity updated iteratively</a:t>
            </a:r>
          </a:p>
          <a:p>
            <a:pPr algn="just"/>
            <a:r>
              <a:rPr lang="en-US" sz="2400" dirty="0">
                <a:latin typeface="Times New Roman" panose="02020603050405020304" pitchFamily="18" charset="0"/>
                <a:cs typeface="Times New Roman" panose="02020603050405020304" pitchFamily="18" charset="0"/>
              </a:rPr>
              <a:t>Personal best(</a:t>
            </a:r>
            <a:r>
              <a:rPr lang="en-US" sz="2400" dirty="0" err="1">
                <a:latin typeface="Times New Roman" panose="02020603050405020304" pitchFamily="18" charset="0"/>
                <a:cs typeface="Times New Roman" panose="02020603050405020304" pitchFamily="18" charset="0"/>
              </a:rPr>
              <a:t>pbest</a:t>
            </a:r>
            <a:r>
              <a:rPr lang="en-US" sz="2400" dirty="0">
                <a:latin typeface="Times New Roman" panose="02020603050405020304" pitchFamily="18" charset="0"/>
                <a:cs typeface="Times New Roman" panose="02020603050405020304" pitchFamily="18" charset="0"/>
              </a:rPr>
              <a:t>) and global best (</a:t>
            </a:r>
            <a:r>
              <a:rPr lang="en-US" sz="2400" dirty="0" err="1">
                <a:latin typeface="Times New Roman" panose="02020603050405020304" pitchFamily="18" charset="0"/>
                <a:cs typeface="Times New Roman" panose="02020603050405020304" pitchFamily="18" charset="0"/>
              </a:rPr>
              <a:t>gbest</a:t>
            </a:r>
            <a:r>
              <a:rPr lang="en-US" sz="2400" dirty="0">
                <a:latin typeface="Times New Roman" panose="02020603050405020304" pitchFamily="18" charset="0"/>
                <a:cs typeface="Times New Roman" panose="02020603050405020304" pitchFamily="18" charset="0"/>
              </a:rPr>
              <a:t>) are considered</a:t>
            </a:r>
          </a:p>
          <a:p>
            <a:pPr algn="just"/>
            <a:r>
              <a:rPr lang="en-US" sz="2400" dirty="0">
                <a:latin typeface="Times New Roman" panose="02020603050405020304" pitchFamily="18" charset="0"/>
                <a:cs typeface="Times New Roman" panose="02020603050405020304" pitchFamily="18" charset="0"/>
              </a:rPr>
              <a:t>Convergence obtained after maximum iterations</a:t>
            </a:r>
          </a:p>
          <a:p>
            <a:pPr algn="just"/>
            <a:r>
              <a:rPr lang="en-US" sz="2400" dirty="0">
                <a:latin typeface="Times New Roman" panose="02020603050405020304" pitchFamily="18" charset="0"/>
                <a:cs typeface="Times New Roman" panose="02020603050405020304" pitchFamily="18" charset="0"/>
              </a:rPr>
              <a:t>Best solution gives minimum system loss</a:t>
            </a:r>
          </a:p>
        </p:txBody>
      </p:sp>
      <p:sp>
        <p:nvSpPr>
          <p:cNvPr id="4" name="Slide Number Placeholder 3">
            <a:extLst>
              <a:ext uri="{FF2B5EF4-FFF2-40B4-BE49-F238E27FC236}">
                <a16:creationId xmlns:a16="http://schemas.microsoft.com/office/drawing/2014/main" id="{8D4EAAEF-1842-A364-9AF7-6205A9ACEEB7}"/>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10</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3421750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886ED-00EF-9CF9-8297-F37A9BC30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5CC8F-AB68-F1C6-86D3-AEA47521688D}"/>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METHODOLOGY</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B13EA8-9AEB-819D-30C4-B0F4EC441C02}"/>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Model WSCC 9-bus system data.</a:t>
            </a:r>
          </a:p>
          <a:p>
            <a:pPr algn="just"/>
            <a:r>
              <a:rPr lang="en-US" sz="2400" dirty="0">
                <a:latin typeface="Times New Roman" panose="02020603050405020304" pitchFamily="18" charset="0"/>
                <a:cs typeface="Times New Roman" panose="02020603050405020304" pitchFamily="18" charset="0"/>
              </a:rPr>
              <a:t>Perform base case load flow.</a:t>
            </a:r>
          </a:p>
          <a:p>
            <a:pPr algn="just"/>
            <a:r>
              <a:rPr lang="en-US" sz="2400" dirty="0">
                <a:latin typeface="Times New Roman" panose="02020603050405020304" pitchFamily="18" charset="0"/>
                <a:cs typeface="Times New Roman" panose="02020603050405020304" pitchFamily="18" charset="0"/>
              </a:rPr>
              <a:t>Add EV charging load.</a:t>
            </a:r>
          </a:p>
          <a:p>
            <a:pPr algn="just"/>
            <a:r>
              <a:rPr lang="en-US" sz="2400" dirty="0">
                <a:latin typeface="Times New Roman" panose="02020603050405020304" pitchFamily="18" charset="0"/>
                <a:cs typeface="Times New Roman" panose="02020603050405020304" pitchFamily="18" charset="0"/>
              </a:rPr>
              <a:t>Apply PSO for optimal reactive power allocation</a:t>
            </a:r>
          </a:p>
          <a:p>
            <a:pPr algn="just"/>
            <a:r>
              <a:rPr lang="en-US" sz="2400" dirty="0">
                <a:latin typeface="Times New Roman" panose="02020603050405020304" pitchFamily="18" charset="0"/>
                <a:cs typeface="Times New Roman" panose="02020603050405020304" pitchFamily="18" charset="0"/>
              </a:rPr>
              <a:t>Update particle positions and velocities</a:t>
            </a:r>
          </a:p>
          <a:p>
            <a:pPr algn="just"/>
            <a:r>
              <a:rPr lang="en-US" sz="2400" dirty="0">
                <a:latin typeface="Times New Roman" panose="02020603050405020304" pitchFamily="18" charset="0"/>
                <a:cs typeface="Times New Roman" panose="02020603050405020304" pitchFamily="18" charset="0"/>
              </a:rPr>
              <a:t>Run Newton-Raphson load flow for each particle</a:t>
            </a:r>
          </a:p>
          <a:p>
            <a:pPr algn="just"/>
            <a:r>
              <a:rPr lang="en-US" sz="2400" dirty="0">
                <a:latin typeface="Times New Roman" panose="02020603050405020304" pitchFamily="18" charset="0"/>
                <a:cs typeface="Times New Roman" panose="02020603050405020304" pitchFamily="18" charset="0"/>
              </a:rPr>
              <a:t>Calculate voltage profile and power losses</a:t>
            </a:r>
          </a:p>
          <a:p>
            <a:pPr algn="just"/>
            <a:r>
              <a:rPr lang="en-US" sz="2400" dirty="0">
                <a:latin typeface="Times New Roman" panose="02020603050405020304" pitchFamily="18" charset="0"/>
                <a:cs typeface="Times New Roman" panose="02020603050405020304" pitchFamily="18" charset="0"/>
              </a:rPr>
              <a:t>Compare all iterations results.</a:t>
            </a:r>
          </a:p>
          <a:p>
            <a:pPr algn="just"/>
            <a:r>
              <a:rPr lang="en-US" sz="2400" dirty="0">
                <a:latin typeface="Times New Roman" panose="02020603050405020304" pitchFamily="18" charset="0"/>
                <a:cs typeface="Times New Roman" panose="02020603050405020304" pitchFamily="18" charset="0"/>
              </a:rPr>
              <a:t>Identify optimal EV charging allocations with minimum loss</a:t>
            </a:r>
          </a:p>
        </p:txBody>
      </p:sp>
      <p:sp>
        <p:nvSpPr>
          <p:cNvPr id="4" name="Slide Number Placeholder 3">
            <a:extLst>
              <a:ext uri="{FF2B5EF4-FFF2-40B4-BE49-F238E27FC236}">
                <a16:creationId xmlns:a16="http://schemas.microsoft.com/office/drawing/2014/main" id="{400F8D07-B8DF-390C-D813-EF1383ED93EE}"/>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11</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1512715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356D1-5F25-827C-B508-D4973ED68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97CC1-822B-A85A-C805-6C730E722EDF}"/>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CASE STUDIES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B72B60-32EB-843C-30DD-011C9C2D40B1}"/>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Base case without EV reactive load</a:t>
            </a:r>
          </a:p>
          <a:p>
            <a:pPr algn="just"/>
            <a:r>
              <a:rPr lang="en-US" sz="2400" dirty="0">
                <a:latin typeface="Times New Roman" panose="02020603050405020304" pitchFamily="18" charset="0"/>
                <a:cs typeface="Times New Roman" panose="02020603050405020304" pitchFamily="18" charset="0"/>
              </a:rPr>
              <a:t>Simultaneous </a:t>
            </a:r>
            <a:r>
              <a:rPr lang="en-US" sz="2400" i="1" dirty="0" err="1">
                <a:latin typeface="Times New Roman" panose="02020603050405020304" pitchFamily="18" charset="0"/>
                <a:cs typeface="Times New Roman" panose="02020603050405020304" pitchFamily="18" charset="0"/>
              </a:rPr>
              <a:t>Q</a:t>
            </a:r>
            <a:r>
              <a:rPr lang="en-US" sz="2400" baseline="-25000" dirty="0" err="1">
                <a:latin typeface="Times New Roman" panose="02020603050405020304" pitchFamily="18" charset="0"/>
                <a:cs typeface="Times New Roman" panose="02020603050405020304" pitchFamily="18" charset="0"/>
              </a:rPr>
              <a:t>ev</a:t>
            </a:r>
            <a:r>
              <a:rPr lang="en-US" sz="2400" dirty="0">
                <a:latin typeface="Times New Roman" panose="02020603050405020304" pitchFamily="18" charset="0"/>
                <a:cs typeface="Times New Roman" panose="02020603050405020304" pitchFamily="18" charset="0"/>
              </a:rPr>
              <a:t> at Buses 5, 6, and 8</a:t>
            </a:r>
          </a:p>
          <a:p>
            <a:pPr algn="just"/>
            <a:r>
              <a:rPr lang="en-US" sz="2400" dirty="0">
                <a:latin typeface="Times New Roman" panose="02020603050405020304" pitchFamily="18" charset="0"/>
                <a:cs typeface="Times New Roman" panose="02020603050405020304" pitchFamily="18" charset="0"/>
              </a:rPr>
              <a:t>PSO used for optimal </a:t>
            </a:r>
            <a:r>
              <a:rPr lang="en-US" sz="2400" i="1" dirty="0" err="1">
                <a:latin typeface="Times New Roman" panose="02020603050405020304" pitchFamily="18" charset="0"/>
                <a:cs typeface="Times New Roman" panose="02020603050405020304" pitchFamily="18" charset="0"/>
              </a:rPr>
              <a:t>Q</a:t>
            </a:r>
            <a:r>
              <a:rPr lang="en-US" sz="2400" baseline="-25000" dirty="0" err="1">
                <a:latin typeface="Times New Roman" panose="02020603050405020304" pitchFamily="18" charset="0"/>
                <a:cs typeface="Times New Roman" panose="02020603050405020304" pitchFamily="18" charset="0"/>
              </a:rPr>
              <a:t>ev</a:t>
            </a:r>
            <a:r>
              <a:rPr lang="en-US" sz="2400" dirty="0">
                <a:latin typeface="Times New Roman" panose="02020603050405020304" pitchFamily="18" charset="0"/>
                <a:cs typeface="Times New Roman" panose="02020603050405020304" pitchFamily="18" charset="0"/>
              </a:rPr>
              <a:t> allocation</a:t>
            </a:r>
          </a:p>
          <a:p>
            <a:pPr algn="just"/>
            <a:r>
              <a:rPr lang="en-US" sz="2400" dirty="0">
                <a:latin typeface="Times New Roman" panose="02020603050405020304" pitchFamily="18" charset="0"/>
                <a:cs typeface="Times New Roman" panose="02020603050405020304" pitchFamily="18" charset="0"/>
              </a:rPr>
              <a:t>NR load flow run in each iteration</a:t>
            </a:r>
          </a:p>
          <a:p>
            <a:pPr algn="just"/>
            <a:r>
              <a:rPr lang="en-US" sz="2400" dirty="0">
                <a:latin typeface="Times New Roman" panose="02020603050405020304" pitchFamily="18" charset="0"/>
                <a:cs typeface="Times New Roman" panose="02020603050405020304" pitchFamily="18" charset="0"/>
              </a:rPr>
              <a:t>Objective: minimize total power loss</a:t>
            </a:r>
          </a:p>
          <a:p>
            <a:pPr algn="just"/>
            <a:r>
              <a:rPr lang="en-US" sz="2400" dirty="0">
                <a:latin typeface="Times New Roman" panose="02020603050405020304" pitchFamily="18" charset="0"/>
                <a:cs typeface="Times New Roman" panose="02020603050405020304" pitchFamily="18" charset="0"/>
              </a:rPr>
              <a:t>Best </a:t>
            </a:r>
            <a:r>
              <a:rPr lang="en-US" sz="2400" i="1" dirty="0" err="1">
                <a:latin typeface="Times New Roman" panose="02020603050405020304" pitchFamily="18" charset="0"/>
                <a:cs typeface="Times New Roman" panose="02020603050405020304" pitchFamily="18" charset="0"/>
              </a:rPr>
              <a:t>Q</a:t>
            </a:r>
            <a:r>
              <a:rPr lang="en-US" sz="2400" baseline="-25000" dirty="0" err="1">
                <a:latin typeface="Times New Roman" panose="02020603050405020304" pitchFamily="18" charset="0"/>
                <a:cs typeface="Times New Roman" panose="02020603050405020304" pitchFamily="18" charset="0"/>
              </a:rPr>
              <a:t>ev</a:t>
            </a:r>
            <a:r>
              <a:rPr lang="en-US" sz="2400" dirty="0">
                <a:latin typeface="Times New Roman" panose="02020603050405020304" pitchFamily="18" charset="0"/>
                <a:cs typeface="Times New Roman" panose="02020603050405020304" pitchFamily="18" charset="0"/>
              </a:rPr>
              <a:t> values selected after convergence</a:t>
            </a:r>
          </a:p>
        </p:txBody>
      </p:sp>
      <p:sp>
        <p:nvSpPr>
          <p:cNvPr id="4" name="Slide Number Placeholder 3">
            <a:extLst>
              <a:ext uri="{FF2B5EF4-FFF2-40B4-BE49-F238E27FC236}">
                <a16:creationId xmlns:a16="http://schemas.microsoft.com/office/drawing/2014/main" id="{377B5951-3594-9FA8-77B6-260679189E13}"/>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12</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1279616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82865-B249-3802-79BE-442D2B9F5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EE8769-662F-C896-A2AE-75328F54FA7A}"/>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RESULT &amp; DISCUSSION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DB83F3-078E-7336-28AD-52A7CF4AD301}"/>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Base Case Loss = </a:t>
            </a:r>
            <a:r>
              <a:rPr lang="en-US" sz="2400" b="1" dirty="0">
                <a:latin typeface="Times New Roman" panose="02020603050405020304" pitchFamily="18" charset="0"/>
                <a:cs typeface="Times New Roman" panose="02020603050405020304" pitchFamily="18" charset="0"/>
              </a:rPr>
              <a:t>4.6410 MW</a:t>
            </a:r>
          </a:p>
          <a:p>
            <a:pPr algn="just"/>
            <a:r>
              <a:rPr lang="en-US" sz="2400" dirty="0">
                <a:latin typeface="Times New Roman" panose="02020603050405020304" pitchFamily="18" charset="0"/>
                <a:cs typeface="Times New Roman" panose="02020603050405020304" pitchFamily="18" charset="0"/>
              </a:rPr>
              <a:t>Optimal EV Reactive Power Allocation:</a:t>
            </a:r>
          </a:p>
          <a:p>
            <a:pPr lvl="1" algn="just"/>
            <a:r>
              <a:rPr lang="en-US" sz="2200" dirty="0">
                <a:latin typeface="Times New Roman" panose="02020603050405020304" pitchFamily="18" charset="0"/>
                <a:cs typeface="Times New Roman" panose="02020603050405020304" pitchFamily="18" charset="0"/>
              </a:rPr>
              <a:t>Bus 5 = 0.0000 </a:t>
            </a:r>
            <a:r>
              <a:rPr lang="en-US" sz="2200" dirty="0" err="1">
                <a:latin typeface="Times New Roman" panose="02020603050405020304" pitchFamily="18" charset="0"/>
                <a:cs typeface="Times New Roman" panose="02020603050405020304" pitchFamily="18" charset="0"/>
              </a:rPr>
              <a:t>pu</a:t>
            </a:r>
            <a:endParaRPr lang="en-US" sz="2200" dirty="0">
              <a:latin typeface="Times New Roman" panose="02020603050405020304" pitchFamily="18" charset="0"/>
              <a:cs typeface="Times New Roman" panose="02020603050405020304" pitchFamily="18" charset="0"/>
            </a:endParaRPr>
          </a:p>
          <a:p>
            <a:pPr lvl="1" algn="just"/>
            <a:r>
              <a:rPr lang="en-US" sz="2200" dirty="0">
                <a:latin typeface="Times New Roman" panose="02020603050405020304" pitchFamily="18" charset="0"/>
                <a:cs typeface="Times New Roman" panose="02020603050405020304" pitchFamily="18" charset="0"/>
              </a:rPr>
              <a:t>Bus 6 = 0.1238 </a:t>
            </a:r>
            <a:r>
              <a:rPr lang="en-US" sz="2200" dirty="0" err="1">
                <a:latin typeface="Times New Roman" panose="02020603050405020304" pitchFamily="18" charset="0"/>
                <a:cs typeface="Times New Roman" panose="02020603050405020304" pitchFamily="18" charset="0"/>
              </a:rPr>
              <a:t>pu</a:t>
            </a:r>
            <a:r>
              <a:rPr lang="en-US" sz="2200" dirty="0">
                <a:latin typeface="Times New Roman" panose="02020603050405020304" pitchFamily="18" charset="0"/>
                <a:cs typeface="Times New Roman" panose="02020603050405020304" pitchFamily="18" charset="0"/>
              </a:rPr>
              <a:t> </a:t>
            </a:r>
          </a:p>
          <a:p>
            <a:pPr lvl="1" algn="just"/>
            <a:r>
              <a:rPr lang="en-US" sz="2200" dirty="0">
                <a:latin typeface="Times New Roman" panose="02020603050405020304" pitchFamily="18" charset="0"/>
                <a:cs typeface="Times New Roman" panose="02020603050405020304" pitchFamily="18" charset="0"/>
              </a:rPr>
              <a:t>Bus 8 = 0.1762 </a:t>
            </a:r>
            <a:r>
              <a:rPr lang="en-US" sz="2200" dirty="0" err="1">
                <a:latin typeface="Times New Roman" panose="02020603050405020304" pitchFamily="18" charset="0"/>
                <a:cs typeface="Times New Roman" panose="02020603050405020304" pitchFamily="18" charset="0"/>
              </a:rPr>
              <a:t>pu</a:t>
            </a:r>
            <a:endParaRPr lang="en-US" sz="22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Minimum Total Loss = </a:t>
            </a:r>
            <a:r>
              <a:rPr lang="en-US" sz="2400" b="1" dirty="0">
                <a:latin typeface="Times New Roman" panose="02020603050405020304" pitchFamily="18" charset="0"/>
                <a:cs typeface="Times New Roman" panose="02020603050405020304" pitchFamily="18" charset="0"/>
              </a:rPr>
              <a:t>4.8120 MW</a:t>
            </a:r>
          </a:p>
          <a:p>
            <a:pPr algn="just"/>
            <a:r>
              <a:rPr lang="en-US" sz="2400" dirty="0">
                <a:latin typeface="Times New Roman" panose="02020603050405020304" pitchFamily="18" charset="0"/>
                <a:cs typeface="Times New Roman" panose="02020603050405020304" pitchFamily="18" charset="0"/>
              </a:rPr>
              <a:t>Reactive power support mainly allocated to Bus 6 and Bus 8</a:t>
            </a:r>
          </a:p>
          <a:p>
            <a:pPr algn="just"/>
            <a:r>
              <a:rPr lang="en-US" sz="2400" dirty="0">
                <a:latin typeface="Times New Roman" panose="02020603050405020304" pitchFamily="18" charset="0"/>
                <a:cs typeface="Times New Roman" panose="02020603050405020304" pitchFamily="18" charset="0"/>
              </a:rPr>
              <a:t>Bus 5 shows no reactive power solution</a:t>
            </a:r>
          </a:p>
          <a:p>
            <a:pPr algn="just"/>
            <a:r>
              <a:rPr lang="en-US" sz="2400" dirty="0">
                <a:latin typeface="Times New Roman" panose="02020603050405020304" pitchFamily="18" charset="0"/>
                <a:cs typeface="Times New Roman" panose="02020603050405020304" pitchFamily="18" charset="0"/>
              </a:rPr>
              <a:t>Simultaneous compensation at buses 5, 6, and 8 considered</a:t>
            </a:r>
          </a:p>
        </p:txBody>
      </p:sp>
      <p:sp>
        <p:nvSpPr>
          <p:cNvPr id="4" name="Slide Number Placeholder 3">
            <a:extLst>
              <a:ext uri="{FF2B5EF4-FFF2-40B4-BE49-F238E27FC236}">
                <a16:creationId xmlns:a16="http://schemas.microsoft.com/office/drawing/2014/main" id="{04524525-D7D4-4495-1DD5-CDAB19C656F6}"/>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13</a:t>
            </a:r>
            <a:endParaRPr lang="en-IN" dirty="0">
              <a:solidFill>
                <a:schemeClr val="tx1"/>
              </a:solidFill>
              <a:latin typeface="Arial Black" panose="020B0A04020102020204" pitchFamily="34" charset="0"/>
            </a:endParaRPr>
          </a:p>
        </p:txBody>
      </p:sp>
      <p:pic>
        <p:nvPicPr>
          <p:cNvPr id="6" name="Picture 5">
            <a:extLst>
              <a:ext uri="{FF2B5EF4-FFF2-40B4-BE49-F238E27FC236}">
                <a16:creationId xmlns:a16="http://schemas.microsoft.com/office/drawing/2014/main" id="{220A9096-E83B-71D1-BCAB-BB7260C99E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6720" y="1208325"/>
            <a:ext cx="4775200" cy="2792969"/>
          </a:xfrm>
          <a:prstGeom prst="rect">
            <a:avLst/>
          </a:prstGeom>
        </p:spPr>
      </p:pic>
      <p:sp>
        <p:nvSpPr>
          <p:cNvPr id="7" name="TextBox 6">
            <a:extLst>
              <a:ext uri="{FF2B5EF4-FFF2-40B4-BE49-F238E27FC236}">
                <a16:creationId xmlns:a16="http://schemas.microsoft.com/office/drawing/2014/main" id="{5A4FD643-B968-812D-3212-D5F818CD59FD}"/>
              </a:ext>
            </a:extLst>
          </p:cNvPr>
          <p:cNvSpPr txBox="1"/>
          <p:nvPr/>
        </p:nvSpPr>
        <p:spPr>
          <a:xfrm>
            <a:off x="7002780" y="3966954"/>
            <a:ext cx="4450080" cy="338554"/>
          </a:xfrm>
          <a:prstGeom prst="rect">
            <a:avLst/>
          </a:prstGeom>
          <a:noFill/>
        </p:spPr>
        <p:txBody>
          <a:bodyPr wrap="square" rtlCol="0">
            <a:spAutoFit/>
          </a:bodyPr>
          <a:lstStyle/>
          <a:p>
            <a:r>
              <a:rPr lang="en-IN" sz="1600" dirty="0"/>
              <a:t>Fig 3: PSO Convergence Curve for Loss Minimization</a:t>
            </a:r>
          </a:p>
        </p:txBody>
      </p:sp>
    </p:spTree>
    <p:extLst>
      <p:ext uri="{BB962C8B-B14F-4D97-AF65-F5344CB8AC3E}">
        <p14:creationId xmlns:p14="http://schemas.microsoft.com/office/powerpoint/2010/main" val="1397809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73304-4CC2-FED9-9279-4045F8AEC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4F773-82AA-6228-3D77-F853854C70C9}"/>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CONCLUSION</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D64A0CD-4392-2F9B-599E-A4C59CF1B8BC}"/>
              </a:ext>
            </a:extLst>
          </p:cNvPr>
          <p:cNvSpPr>
            <a:spLocks noGrp="1"/>
          </p:cNvSpPr>
          <p:nvPr>
            <p:ph idx="1"/>
          </p:nvPr>
        </p:nvSpPr>
        <p:spPr/>
        <p:txBody>
          <a:bodyPr>
            <a:normAutofit/>
          </a:bodyPr>
          <a:lstStyle/>
          <a:p>
            <a:pPr marL="0" indent="0" algn="just">
              <a:buNone/>
            </a:pPr>
            <a:r>
              <a:rPr lang="en-US" sz="2200" dirty="0">
                <a:latin typeface="Times New Roman" panose="02020603050405020304" pitchFamily="18" charset="0"/>
                <a:cs typeface="Times New Roman" panose="02020603050405020304" pitchFamily="18" charset="0"/>
              </a:rPr>
              <a:t>Newton-Raphson load flow is implemented on the WSCC 9-bus system for performance analysis. Particle Swarm Optimization is applied to obtain optimal to obtain optimal EV reactive power allocation at Buses 5, 6, and 8. The results show that optimized reactive power support improves voltage profile and help minimize transmission power losses. The combined NR-PSO approach is effective for EV charging integration and power system planning </a:t>
            </a:r>
          </a:p>
        </p:txBody>
      </p:sp>
      <p:sp>
        <p:nvSpPr>
          <p:cNvPr id="4" name="Slide Number Placeholder 3">
            <a:extLst>
              <a:ext uri="{FF2B5EF4-FFF2-40B4-BE49-F238E27FC236}">
                <a16:creationId xmlns:a16="http://schemas.microsoft.com/office/drawing/2014/main" id="{07B38483-300E-C7A1-FA18-E2B3B3E41CDA}"/>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14</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1344669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1E649-50F0-40D9-2F10-F067BBDC2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76D7D-EB01-C7BB-E71C-13BB87364EB1}"/>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FUTURE SCOPE</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B71CD9-DA7D-B347-70DB-3C061130F2DD}"/>
              </a:ext>
            </a:extLst>
          </p:cNvPr>
          <p:cNvSpPr>
            <a:spLocks noGrp="1"/>
          </p:cNvSpPr>
          <p:nvPr>
            <p:ph idx="1"/>
          </p:nvPr>
        </p:nvSpPr>
        <p:spPr/>
        <p:txBody>
          <a:bodyPr>
            <a:normAutofit/>
          </a:bodyPr>
          <a:lstStyle/>
          <a:p>
            <a:pPr algn="just"/>
            <a:r>
              <a:rPr lang="en-US" sz="2200" dirty="0">
                <a:latin typeface="Times New Roman" panose="02020603050405020304" pitchFamily="18" charset="0"/>
                <a:cs typeface="Times New Roman" panose="02020603050405020304" pitchFamily="18" charset="0"/>
              </a:rPr>
              <a:t>Integration of PV system in the WSCC 9-bus network</a:t>
            </a:r>
          </a:p>
          <a:p>
            <a:pPr algn="just"/>
            <a:r>
              <a:rPr lang="en-US" sz="2200" dirty="0">
                <a:latin typeface="Times New Roman" panose="02020603050405020304" pitchFamily="18" charset="0"/>
                <a:cs typeface="Times New Roman" panose="02020603050405020304" pitchFamily="18" charset="0"/>
              </a:rPr>
              <a:t>Combined PV and EV charging performance and economic analysis</a:t>
            </a:r>
          </a:p>
          <a:p>
            <a:pPr algn="just"/>
            <a:r>
              <a:rPr lang="en-US" sz="2200" dirty="0">
                <a:latin typeface="Times New Roman" panose="02020603050405020304" pitchFamily="18" charset="0"/>
                <a:cs typeface="Times New Roman" panose="02020603050405020304" pitchFamily="18" charset="0"/>
              </a:rPr>
              <a:t>Voltage profile improvement and power loss reduction using PV support</a:t>
            </a:r>
          </a:p>
        </p:txBody>
      </p:sp>
      <p:sp>
        <p:nvSpPr>
          <p:cNvPr id="4" name="Slide Number Placeholder 3">
            <a:extLst>
              <a:ext uri="{FF2B5EF4-FFF2-40B4-BE49-F238E27FC236}">
                <a16:creationId xmlns:a16="http://schemas.microsoft.com/office/drawing/2014/main" id="{9E724AC5-F58C-53F4-6A80-F26C328A88F1}"/>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15</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102008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6DA9D-2BCC-9114-AD6F-6569CC066D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0F957-FB8B-2B92-4A8C-89F3957E25D3}"/>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REFERENCES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3CC08E-29CD-4E46-EA0D-385459EEA76B}"/>
              </a:ext>
            </a:extLst>
          </p:cNvPr>
          <p:cNvSpPr>
            <a:spLocks noGrp="1"/>
          </p:cNvSpPr>
          <p:nvPr>
            <p:ph idx="1"/>
          </p:nvPr>
        </p:nvSpPr>
        <p:spPr>
          <a:xfrm>
            <a:off x="838200" y="1460500"/>
            <a:ext cx="10515600" cy="4667250"/>
          </a:xfrm>
        </p:spPr>
        <p:txBody>
          <a:bodyPr>
            <a:noAutofit/>
          </a:bodyPr>
          <a:lstStyle/>
          <a:p>
            <a:pPr marL="0" indent="0" algn="just">
              <a:buNone/>
            </a:pPr>
            <a:r>
              <a:rPr lang="en-US" sz="2200" dirty="0">
                <a:latin typeface="Times New Roman" panose="02020603050405020304" pitchFamily="18" charset="0"/>
                <a:cs typeface="Times New Roman" panose="02020603050405020304" pitchFamily="18" charset="0"/>
              </a:rPr>
              <a:t>[1] </a:t>
            </a:r>
            <a:r>
              <a:rPr lang="en-IN" sz="2200" dirty="0">
                <a:latin typeface="Times New Roman" panose="02020603050405020304" pitchFamily="18" charset="0"/>
                <a:cs typeface="Times New Roman" panose="02020603050405020304" pitchFamily="18" charset="0"/>
              </a:rPr>
              <a:t>F. Schäfer and M. Braun, "An efficient open-source implementation to compute the </a:t>
            </a:r>
            <a:r>
              <a:rPr lang="en-IN" sz="2200" dirty="0" err="1">
                <a:latin typeface="Times New Roman" panose="02020603050405020304" pitchFamily="18" charset="0"/>
                <a:cs typeface="Times New Roman" panose="02020603050405020304" pitchFamily="18" charset="0"/>
              </a:rPr>
              <a:t>jacobian</a:t>
            </a:r>
            <a:r>
              <a:rPr lang="en-IN" sz="2200" dirty="0">
                <a:latin typeface="Times New Roman" panose="02020603050405020304" pitchFamily="18" charset="0"/>
                <a:cs typeface="Times New Roman" panose="02020603050405020304" pitchFamily="18" charset="0"/>
              </a:rPr>
              <a:t> matrix for the Newton-Raphson power flow algorithm," </a:t>
            </a:r>
            <a:r>
              <a:rPr lang="en-IN" sz="2200" i="1" dirty="0">
                <a:latin typeface="Times New Roman" panose="02020603050405020304" pitchFamily="18" charset="0"/>
                <a:cs typeface="Times New Roman" panose="02020603050405020304" pitchFamily="18" charset="0"/>
              </a:rPr>
              <a:t>2018 IEEE PES Innovative Smart Grid Technologies Conference Europe (ISGT-Europe)</a:t>
            </a:r>
            <a:r>
              <a:rPr lang="en-IN" sz="2200" dirty="0">
                <a:latin typeface="Times New Roman" panose="02020603050405020304" pitchFamily="18" charset="0"/>
                <a:cs typeface="Times New Roman" panose="02020603050405020304" pitchFamily="18" charset="0"/>
              </a:rPr>
              <a:t>, Sarajevo, Bosnia and Herzegovina, 2018, pp. 1-6, </a:t>
            </a:r>
            <a:r>
              <a:rPr lang="en-IN" sz="2200" dirty="0" err="1">
                <a:latin typeface="Times New Roman" panose="02020603050405020304" pitchFamily="18" charset="0"/>
                <a:cs typeface="Times New Roman" panose="02020603050405020304" pitchFamily="18" charset="0"/>
              </a:rPr>
              <a:t>doi</a:t>
            </a:r>
            <a:r>
              <a:rPr lang="en-IN" sz="2200" dirty="0">
                <a:latin typeface="Times New Roman" panose="02020603050405020304" pitchFamily="18" charset="0"/>
                <a:cs typeface="Times New Roman" panose="02020603050405020304" pitchFamily="18" charset="0"/>
              </a:rPr>
              <a:t>: 10.1109/ISGTEurope.2018.8571471.</a:t>
            </a:r>
            <a:endParaRPr lang="en-US" sz="2200" dirty="0">
              <a:latin typeface="Times New Roman" panose="02020603050405020304" pitchFamily="18" charset="0"/>
              <a:cs typeface="Times New Roman" panose="02020603050405020304" pitchFamily="18" charset="0"/>
            </a:endParaRPr>
          </a:p>
          <a:p>
            <a:pPr marL="0" indent="0" algn="just">
              <a:buNone/>
            </a:pPr>
            <a:r>
              <a:rPr lang="en-US" sz="2200" dirty="0">
                <a:latin typeface="Times New Roman" panose="02020603050405020304" pitchFamily="18" charset="0"/>
                <a:cs typeface="Times New Roman" panose="02020603050405020304" pitchFamily="18" charset="0"/>
              </a:rPr>
              <a:t>[2] </a:t>
            </a:r>
            <a:r>
              <a:rPr lang="en-IN" sz="2200" dirty="0">
                <a:latin typeface="Times New Roman" panose="02020603050405020304" pitchFamily="18" charset="0"/>
                <a:cs typeface="Times New Roman" panose="02020603050405020304" pitchFamily="18" charset="0"/>
              </a:rPr>
              <a:t>M. R. Hossain, M. S. Kaiser, F. I. Ali and M. M. A. Rizvi, "Network flow optimization by Genetic Algorithm and load flow analysis by Newton Raphson method in power system," </a:t>
            </a:r>
            <a:r>
              <a:rPr lang="en-IN" sz="2200" i="1" dirty="0">
                <a:latin typeface="Times New Roman" panose="02020603050405020304" pitchFamily="18" charset="0"/>
                <a:cs typeface="Times New Roman" panose="02020603050405020304" pitchFamily="18" charset="0"/>
              </a:rPr>
              <a:t>2015 International Conference on Electrical Engineering and Information Communication Technology (ICEEICT)</a:t>
            </a:r>
            <a:r>
              <a:rPr lang="en-IN" sz="2200" dirty="0">
                <a:latin typeface="Times New Roman" panose="02020603050405020304" pitchFamily="18" charset="0"/>
                <a:cs typeface="Times New Roman" panose="02020603050405020304" pitchFamily="18" charset="0"/>
              </a:rPr>
              <a:t>, Savar, Bangladesh, 2015, pp. 1-5, </a:t>
            </a:r>
            <a:r>
              <a:rPr lang="en-IN" sz="2200" dirty="0" err="1">
                <a:latin typeface="Times New Roman" panose="02020603050405020304" pitchFamily="18" charset="0"/>
                <a:cs typeface="Times New Roman" panose="02020603050405020304" pitchFamily="18" charset="0"/>
              </a:rPr>
              <a:t>doi</a:t>
            </a:r>
            <a:r>
              <a:rPr lang="en-IN" sz="2200" dirty="0">
                <a:latin typeface="Times New Roman" panose="02020603050405020304" pitchFamily="18" charset="0"/>
                <a:cs typeface="Times New Roman" panose="02020603050405020304" pitchFamily="18" charset="0"/>
              </a:rPr>
              <a:t>: 10.1109/ICEEICT.2015.7307388.</a:t>
            </a:r>
          </a:p>
          <a:p>
            <a:pPr marL="0" indent="0" algn="just">
              <a:buNone/>
            </a:pPr>
            <a:r>
              <a:rPr lang="en-IN" sz="2200" dirty="0">
                <a:latin typeface="Times New Roman" panose="02020603050405020304" pitchFamily="18" charset="0"/>
                <a:cs typeface="Times New Roman" panose="02020603050405020304" pitchFamily="18" charset="0"/>
              </a:rPr>
              <a:t>[3] </a:t>
            </a:r>
            <a:r>
              <a:rPr lang="en-IN" sz="2200" dirty="0"/>
              <a:t>W. </a:t>
            </a:r>
            <a:r>
              <a:rPr lang="en-IN" sz="2200" dirty="0" err="1"/>
              <a:t>Chuanjun</a:t>
            </a:r>
            <a:r>
              <a:rPr lang="en-IN" sz="2200" dirty="0"/>
              <a:t>, W. Ling and R. </a:t>
            </a:r>
            <a:r>
              <a:rPr lang="en-IN" sz="2200" dirty="0" err="1"/>
              <a:t>Xuejing</a:t>
            </a:r>
            <a:r>
              <a:rPr lang="en-IN" sz="2200" dirty="0"/>
              <a:t>, "General particle swarm optimization algorithm," </a:t>
            </a:r>
            <a:r>
              <a:rPr lang="en-IN" sz="2200" i="1" dirty="0"/>
              <a:t>2023 IEEE 2nd International Conference on Electrical Engineering, Big Data and Algorithms (EEBDA)</a:t>
            </a:r>
            <a:r>
              <a:rPr lang="en-IN" sz="2200" dirty="0"/>
              <a:t>, Changchun, China, 2023, pp. 1204-1208, </a:t>
            </a:r>
            <a:r>
              <a:rPr lang="en-IN" sz="2200" dirty="0" err="1"/>
              <a:t>doi</a:t>
            </a:r>
            <a:r>
              <a:rPr lang="en-IN" sz="2200" dirty="0"/>
              <a:t>: 10.1109/EEBDA56825.2023.10090725</a:t>
            </a:r>
            <a:endParaRPr lang="en-US" sz="2200" dirty="0">
              <a:latin typeface="Times New Roman" panose="02020603050405020304" pitchFamily="18" charset="0"/>
              <a:cs typeface="Times New Roman" panose="02020603050405020304" pitchFamily="18" charset="0"/>
            </a:endParaRPr>
          </a:p>
          <a:p>
            <a:pPr marL="0" indent="0" algn="just">
              <a:buNone/>
            </a:pPr>
            <a:r>
              <a:rPr lang="en-US" sz="2200" dirty="0">
                <a:latin typeface="Times New Roman" panose="02020603050405020304" pitchFamily="18" charset="0"/>
                <a:cs typeface="Times New Roman" panose="02020603050405020304" pitchFamily="18" charset="0"/>
              </a:rPr>
              <a:t>[4] H. Saadat, Power System Analysis, 3</a:t>
            </a:r>
            <a:r>
              <a:rPr lang="en-US" sz="2200" baseline="30000" dirty="0">
                <a:latin typeface="Times New Roman" panose="02020603050405020304" pitchFamily="18" charset="0"/>
                <a:cs typeface="Times New Roman" panose="02020603050405020304" pitchFamily="18" charset="0"/>
              </a:rPr>
              <a:t>rd</a:t>
            </a:r>
            <a:r>
              <a:rPr lang="en-US" sz="2200" dirty="0">
                <a:latin typeface="Times New Roman" panose="02020603050405020304" pitchFamily="18" charset="0"/>
                <a:cs typeface="Times New Roman" panose="02020603050405020304" pitchFamily="18" charset="0"/>
              </a:rPr>
              <a:t> ed., McGraw-Hill, 2010.</a:t>
            </a:r>
          </a:p>
          <a:p>
            <a:pPr marL="0" indent="0" algn="just">
              <a:buNone/>
            </a:pPr>
            <a:r>
              <a:rPr lang="en-US" sz="2200" dirty="0">
                <a:latin typeface="Times New Roman" panose="02020603050405020304" pitchFamily="18" charset="0"/>
                <a:cs typeface="Times New Roman" panose="02020603050405020304" pitchFamily="18" charset="0"/>
              </a:rPr>
              <a:t>[5] J.J. Grainger and W.D. Stevenson, Power System Analysis, McGraw-Hill, 1994.</a:t>
            </a:r>
          </a:p>
        </p:txBody>
      </p:sp>
      <p:sp>
        <p:nvSpPr>
          <p:cNvPr id="4" name="Slide Number Placeholder 3">
            <a:extLst>
              <a:ext uri="{FF2B5EF4-FFF2-40B4-BE49-F238E27FC236}">
                <a16:creationId xmlns:a16="http://schemas.microsoft.com/office/drawing/2014/main" id="{CC69186A-6138-4B38-B782-50F68EAC1244}"/>
              </a:ext>
            </a:extLst>
          </p:cNvPr>
          <p:cNvSpPr>
            <a:spLocks noGrp="1"/>
          </p:cNvSpPr>
          <p:nvPr>
            <p:ph type="sldNum" sz="quarter" idx="12"/>
          </p:nvPr>
        </p:nvSpPr>
        <p:spPr/>
        <p:txBody>
          <a:bodyPr/>
          <a:lstStyle/>
          <a:p>
            <a:r>
              <a:rPr lang="en-US" dirty="0">
                <a:solidFill>
                  <a:schemeClr val="tx1"/>
                </a:solidFill>
                <a:latin typeface="Arial Black" panose="020B0A04020102020204" pitchFamily="34" charset="0"/>
              </a:rPr>
              <a:t>16</a:t>
            </a:r>
            <a:endParaRPr lang="en-IN"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30930781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18438</TotalTime>
  <Words>1179</Words>
  <Application>Microsoft Office PowerPoint</Application>
  <PresentationFormat>Widescreen</PresentationFormat>
  <Paragraphs>173</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Arial Black</vt:lpstr>
      <vt:lpstr>Calibri</vt:lpstr>
      <vt:lpstr>Calibri Light</vt:lpstr>
      <vt:lpstr>Cambria Math</vt:lpstr>
      <vt:lpstr>Times New Roman</vt:lpstr>
      <vt:lpstr>Office Theme</vt:lpstr>
      <vt:lpstr>  Performance and Economic Analysis of Electric Vehicle Charging Integration in the WSCC 9-Bus System</vt:lpstr>
      <vt:lpstr>CONTENT</vt:lpstr>
      <vt:lpstr>INTRODUCTION</vt:lpstr>
      <vt:lpstr>MOTIVATION</vt:lpstr>
      <vt:lpstr>PROBLEM STATEMENT</vt:lpstr>
      <vt:lpstr>OBJECTIVES</vt:lpstr>
      <vt:lpstr>WSCC 9-Bus Test System</vt:lpstr>
      <vt:lpstr>WSCC 9-Bus Test System</vt:lpstr>
      <vt:lpstr>Newton-Raphson Method</vt:lpstr>
      <vt:lpstr>NEWTON-RAPHSON METHOD</vt:lpstr>
      <vt:lpstr>Particle Swarm Optimization (PSO)</vt:lpstr>
      <vt:lpstr>METHODOLOGY</vt:lpstr>
      <vt:lpstr>CASE STUDIES</vt:lpstr>
      <vt:lpstr>RESULT &amp; DISCUSSION</vt:lpstr>
      <vt:lpstr>CONCLUSION</vt:lpstr>
      <vt:lpstr>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Hasina Fatema</dc:creator>
  <cp:lastModifiedBy>Hasina Fatema</cp:lastModifiedBy>
  <cp:revision>35</cp:revision>
  <dcterms:created xsi:type="dcterms:W3CDTF">2026-01-31T12:49:23Z</dcterms:created>
  <dcterms:modified xsi:type="dcterms:W3CDTF">2026-05-02T08:24:20Z</dcterms:modified>
</cp:coreProperties>
</file>